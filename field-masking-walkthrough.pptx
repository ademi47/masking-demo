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0597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session: agree on the approach and the two gotchas, then run the local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being blunt here so nobody leaves expecting invisibility. Every major site — Facebook, Gmail, banks — shows its API calls in DevTools.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Contributions array is untouched — masking is per-field, not per-payload. That is what keeps the WAF and caching working.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design review. Masking is an egress concern, not a storage concern.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code review ever shows masking logic inside a controller, that is a regression — say so.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clever part of the whole change. Everything else is plumbing.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slide from this deck, make it this one. It is the failure mode that actually bites teams.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my experience the log sink is where the first surprise turns up. Check it before declaring done.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uses an X-Demo-Role header so the behaviour is clickable. That header must not survive into any real deployment.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modest framing. Persisted GraphQL queries at Facebook and X produce the same effect, but for typing and performance reasons — security is a side effect, not the motivation.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to resist: decoy endpoints returning fake data. Monitoring cannot tell decoy traffic from an incident, and "returns false data under some conditions" reads badly in an audit.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repos: masking-demo-backend and masking-demo-frontend. Each has its own README with this script.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attacker knowing our URL should be worth nothing. That is authorization work, not masking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leaving Tier 2 open — it is a real reduction in automated enumeration but it is obscurity, not a control.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2148840"/>
            <a:ext cx="8778240" cy="868680"/>
          </a:xfrm>
          <a:prstGeom prst="rect">
            <a:avLst/>
          </a:prstGeom>
          <a:noFill/>
          <a:ln/>
        </p:spPr>
        <p:txBody>
          <a:bodyPr wrap="square" lIns="0" tIns="0" rIns="0" bIns="0" rtlCol="0" anchor="ctr"/>
          <a:lstStyle/>
          <a:p>
            <a:pPr marL="0" indent="0">
              <a:buNone/>
            </a:pPr>
            <a:r>
              <a:rPr lang="en-US" sz="5200" b="1" dirty="0">
                <a:solidFill>
                  <a:srgbClr val="E8EAF0"/>
                </a:solidFill>
                <a:latin typeface="Calibri" pitchFamily="34" charset="0"/>
                <a:ea typeface="Calibri" pitchFamily="34" charset="-122"/>
                <a:cs typeface="Calibri" pitchFamily="34" charset="-120"/>
              </a:rPr>
              <a:t>Field-Level Masking</a:t>
            </a:r>
            <a:endParaRPr lang="en-US" sz="5200" dirty="0"/>
          </a:p>
        </p:txBody>
      </p:sp>
      <p:sp>
        <p:nvSpPr>
          <p:cNvPr id="3" name="Text 1"/>
          <p:cNvSpPr/>
          <p:nvPr/>
        </p:nvSpPr>
        <p:spPr>
          <a:xfrm>
            <a:off x="640080" y="3063240"/>
            <a:ext cx="8412480" cy="640080"/>
          </a:xfrm>
          <a:prstGeom prst="rect">
            <a:avLst/>
          </a:prstGeom>
          <a:noFill/>
          <a:ln/>
        </p:spPr>
        <p:txBody>
          <a:bodyPr wrap="square" lIns="0" tIns="0" rIns="0" bIns="0" rtlCol="0" anchor="ctr"/>
          <a:lstStyle/>
          <a:p>
            <a:pPr marL="0" indent="0">
              <a:buNone/>
            </a:pPr>
            <a:r>
              <a:rPr lang="en-US" sz="1700" dirty="0">
                <a:solidFill>
                  <a:srgbClr val="8B93A7"/>
                </a:solidFill>
                <a:latin typeface="Calibri" pitchFamily="34" charset="0"/>
                <a:ea typeface="Calibri" pitchFamily="34" charset="-122"/>
                <a:cs typeface="Calibri" pitchFamily="34" charset="-120"/>
              </a:rPr>
              <a:t>Two layers: redacted payloads, and a route surface nothing can enumerate</a:t>
            </a:r>
            <a:endParaRPr lang="en-US" sz="1700" dirty="0"/>
          </a:p>
        </p:txBody>
      </p:sp>
      <p:sp>
        <p:nvSpPr>
          <p:cNvPr id="4" name="Shape 2"/>
          <p:cNvSpPr/>
          <p:nvPr/>
        </p:nvSpPr>
        <p:spPr>
          <a:xfrm>
            <a:off x="640080" y="3977640"/>
            <a:ext cx="978408" cy="384048"/>
          </a:xfrm>
          <a:prstGeom prst="roundRect">
            <a:avLst>
              <a:gd name="adj" fmla="val 23810"/>
            </a:avLst>
          </a:prstGeom>
          <a:solidFill>
            <a:srgbClr val="1A1E28"/>
          </a:solidFill>
          <a:ln w="12700">
            <a:solidFill>
              <a:srgbClr val="2B3140"/>
            </a:solidFill>
            <a:prstDash val="solid"/>
          </a:ln>
        </p:spPr>
        <p:txBody>
          <a:bodyPr/>
          <a:lstStyle/>
          <a:p>
            <a:endParaRPr lang="en-SG"/>
          </a:p>
        </p:txBody>
      </p:sp>
      <p:sp>
        <p:nvSpPr>
          <p:cNvPr id="5" name="Text 3"/>
          <p:cNvSpPr/>
          <p:nvPr/>
        </p:nvSpPr>
        <p:spPr>
          <a:xfrm>
            <a:off x="640080" y="3977640"/>
            <a:ext cx="978408" cy="384048"/>
          </a:xfrm>
          <a:prstGeom prst="rect">
            <a:avLst/>
          </a:prstGeom>
          <a:noFill/>
          <a:ln/>
        </p:spPr>
        <p:txBody>
          <a:bodyPr wrap="square" lIns="0" tIns="0" rIns="0" bIns="0" rtlCol="0" anchor="ctr"/>
          <a:lstStyle/>
          <a:p>
            <a:pPr marL="0" indent="0" algn="ctr">
              <a:buNone/>
            </a:pPr>
            <a:r>
              <a:rPr lang="en-US" sz="1100" dirty="0">
                <a:solidFill>
                  <a:srgbClr val="4F8CFF"/>
                </a:solidFill>
                <a:latin typeface="Courier New" pitchFamily="34" charset="0"/>
                <a:ea typeface="Courier New" pitchFamily="34" charset="-122"/>
                <a:cs typeface="Courier New" pitchFamily="34" charset="-120"/>
              </a:rPr>
              <a:t>.NET 8</a:t>
            </a:r>
            <a:endParaRPr lang="en-US" sz="1100" dirty="0"/>
          </a:p>
        </p:txBody>
      </p:sp>
      <p:sp>
        <p:nvSpPr>
          <p:cNvPr id="6" name="Shape 4"/>
          <p:cNvSpPr/>
          <p:nvPr/>
        </p:nvSpPr>
        <p:spPr>
          <a:xfrm>
            <a:off x="1819656" y="3977640"/>
            <a:ext cx="1938528" cy="384048"/>
          </a:xfrm>
          <a:prstGeom prst="roundRect">
            <a:avLst>
              <a:gd name="adj" fmla="val 23810"/>
            </a:avLst>
          </a:prstGeom>
          <a:solidFill>
            <a:srgbClr val="1A1E28"/>
          </a:solidFill>
          <a:ln w="12700">
            <a:solidFill>
              <a:srgbClr val="2B3140"/>
            </a:solidFill>
            <a:prstDash val="solid"/>
          </a:ln>
        </p:spPr>
        <p:txBody>
          <a:bodyPr/>
          <a:lstStyle/>
          <a:p>
            <a:endParaRPr lang="en-SG"/>
          </a:p>
        </p:txBody>
      </p:sp>
      <p:sp>
        <p:nvSpPr>
          <p:cNvPr id="7" name="Text 5"/>
          <p:cNvSpPr/>
          <p:nvPr/>
        </p:nvSpPr>
        <p:spPr>
          <a:xfrm>
            <a:off x="1819656" y="3977640"/>
            <a:ext cx="1938528" cy="384048"/>
          </a:xfrm>
          <a:prstGeom prst="rect">
            <a:avLst/>
          </a:prstGeom>
          <a:noFill/>
          <a:ln/>
        </p:spPr>
        <p:txBody>
          <a:bodyPr wrap="square" lIns="0" tIns="0" rIns="0" bIns="0" rtlCol="0" anchor="ctr"/>
          <a:lstStyle/>
          <a:p>
            <a:pPr marL="0" indent="0" algn="ctr">
              <a:buNone/>
            </a:pPr>
            <a:r>
              <a:rPr lang="en-US" sz="1100" dirty="0">
                <a:solidFill>
                  <a:srgbClr val="4F8CFF"/>
                </a:solidFill>
                <a:latin typeface="Courier New" pitchFamily="34" charset="0"/>
                <a:ea typeface="Courier New" pitchFamily="34" charset="-122"/>
                <a:cs typeface="Courier New" pitchFamily="34" charset="-120"/>
              </a:rPr>
              <a:t>System.Text.Json</a:t>
            </a:r>
            <a:endParaRPr lang="en-US" sz="1100" dirty="0"/>
          </a:p>
        </p:txBody>
      </p:sp>
      <p:sp>
        <p:nvSpPr>
          <p:cNvPr id="8" name="Shape 6"/>
          <p:cNvSpPr/>
          <p:nvPr/>
        </p:nvSpPr>
        <p:spPr>
          <a:xfrm>
            <a:off x="3959352" y="3977640"/>
            <a:ext cx="1362456" cy="384048"/>
          </a:xfrm>
          <a:prstGeom prst="roundRect">
            <a:avLst>
              <a:gd name="adj" fmla="val 23810"/>
            </a:avLst>
          </a:prstGeom>
          <a:solidFill>
            <a:srgbClr val="1A1E28"/>
          </a:solidFill>
          <a:ln w="12700">
            <a:solidFill>
              <a:srgbClr val="2B3140"/>
            </a:solidFill>
            <a:prstDash val="solid"/>
          </a:ln>
        </p:spPr>
        <p:txBody>
          <a:bodyPr/>
          <a:lstStyle/>
          <a:p>
            <a:endParaRPr lang="en-SG"/>
          </a:p>
        </p:txBody>
      </p:sp>
      <p:sp>
        <p:nvSpPr>
          <p:cNvPr id="9" name="Text 7"/>
          <p:cNvSpPr/>
          <p:nvPr/>
        </p:nvSpPr>
        <p:spPr>
          <a:xfrm>
            <a:off x="3959352" y="3977640"/>
            <a:ext cx="1362456" cy="384048"/>
          </a:xfrm>
          <a:prstGeom prst="rect">
            <a:avLst/>
          </a:prstGeom>
          <a:noFill/>
          <a:ln/>
        </p:spPr>
        <p:txBody>
          <a:bodyPr wrap="square" lIns="0" tIns="0" rIns="0" bIns="0" rtlCol="0" anchor="ctr"/>
          <a:lstStyle/>
          <a:p>
            <a:pPr marL="0" indent="0" algn="ctr">
              <a:buNone/>
            </a:pPr>
            <a:r>
              <a:rPr lang="en-US" sz="1100" dirty="0">
                <a:solidFill>
                  <a:srgbClr val="4F8CFF"/>
                </a:solidFill>
                <a:latin typeface="Courier New" pitchFamily="34" charset="0"/>
                <a:ea typeface="Courier New" pitchFamily="34" charset="-122"/>
                <a:cs typeface="Courier New" pitchFamily="34" charset="-120"/>
              </a:rPr>
              <a:t>Angular 18</a:t>
            </a:r>
            <a:endParaRPr lang="en-US" sz="1100" dirty="0"/>
          </a:p>
        </p:txBody>
      </p:sp>
      <p:sp>
        <p:nvSpPr>
          <p:cNvPr id="10" name="Shape 8"/>
          <p:cNvSpPr/>
          <p:nvPr/>
        </p:nvSpPr>
        <p:spPr>
          <a:xfrm>
            <a:off x="5522976" y="3977640"/>
            <a:ext cx="786384" cy="384048"/>
          </a:xfrm>
          <a:prstGeom prst="roundRect">
            <a:avLst>
              <a:gd name="adj" fmla="val 23810"/>
            </a:avLst>
          </a:prstGeom>
          <a:solidFill>
            <a:srgbClr val="1A1E28"/>
          </a:solidFill>
          <a:ln w="12700">
            <a:solidFill>
              <a:srgbClr val="2B3140"/>
            </a:solidFill>
            <a:prstDash val="solid"/>
          </a:ln>
        </p:spPr>
        <p:txBody>
          <a:bodyPr/>
          <a:lstStyle/>
          <a:p>
            <a:endParaRPr lang="en-SG"/>
          </a:p>
        </p:txBody>
      </p:sp>
      <p:sp>
        <p:nvSpPr>
          <p:cNvPr id="11" name="Text 9"/>
          <p:cNvSpPr/>
          <p:nvPr/>
        </p:nvSpPr>
        <p:spPr>
          <a:xfrm>
            <a:off x="5522976" y="3977640"/>
            <a:ext cx="786384" cy="384048"/>
          </a:xfrm>
          <a:prstGeom prst="rect">
            <a:avLst/>
          </a:prstGeom>
          <a:noFill/>
          <a:ln/>
        </p:spPr>
        <p:txBody>
          <a:bodyPr wrap="square" lIns="0" tIns="0" rIns="0" bIns="0" rtlCol="0" anchor="ctr"/>
          <a:lstStyle/>
          <a:p>
            <a:pPr marL="0" indent="0" algn="ctr">
              <a:buNone/>
            </a:pPr>
            <a:r>
              <a:rPr lang="en-US" sz="1100" dirty="0">
                <a:solidFill>
                  <a:srgbClr val="4F8CFF"/>
                </a:solidFill>
                <a:latin typeface="Courier New" pitchFamily="34" charset="0"/>
                <a:ea typeface="Courier New" pitchFamily="34" charset="-122"/>
                <a:cs typeface="Courier New" pitchFamily="34" charset="-120"/>
              </a:rPr>
              <a:t>YARP</a:t>
            </a:r>
            <a:endParaRPr lang="en-US" sz="1100" dirty="0"/>
          </a:p>
        </p:txBody>
      </p:sp>
      <p:sp>
        <p:nvSpPr>
          <p:cNvPr id="12" name="Shape 10"/>
          <p:cNvSpPr/>
          <p:nvPr/>
        </p:nvSpPr>
        <p:spPr>
          <a:xfrm>
            <a:off x="6510528" y="3977640"/>
            <a:ext cx="1074420" cy="384048"/>
          </a:xfrm>
          <a:prstGeom prst="roundRect">
            <a:avLst>
              <a:gd name="adj" fmla="val 23810"/>
            </a:avLst>
          </a:prstGeom>
          <a:solidFill>
            <a:srgbClr val="1A1E28"/>
          </a:solidFill>
          <a:ln w="12700">
            <a:solidFill>
              <a:srgbClr val="2B3140"/>
            </a:solidFill>
            <a:prstDash val="solid"/>
          </a:ln>
        </p:spPr>
        <p:txBody>
          <a:bodyPr/>
          <a:lstStyle/>
          <a:p>
            <a:endParaRPr lang="en-SG"/>
          </a:p>
        </p:txBody>
      </p:sp>
      <p:sp>
        <p:nvSpPr>
          <p:cNvPr id="13" name="Text 11"/>
          <p:cNvSpPr/>
          <p:nvPr/>
        </p:nvSpPr>
        <p:spPr>
          <a:xfrm>
            <a:off x="6510528" y="3977640"/>
            <a:ext cx="1074420" cy="384048"/>
          </a:xfrm>
          <a:prstGeom prst="rect">
            <a:avLst/>
          </a:prstGeom>
          <a:noFill/>
          <a:ln/>
        </p:spPr>
        <p:txBody>
          <a:bodyPr wrap="square" lIns="0" tIns="0" rIns="0" bIns="0" rtlCol="0" anchor="ctr"/>
          <a:lstStyle/>
          <a:p>
            <a:pPr marL="0" indent="0" algn="ctr">
              <a:buNone/>
            </a:pPr>
            <a:r>
              <a:rPr lang="en-US" sz="1100" dirty="0">
                <a:solidFill>
                  <a:srgbClr val="4F8CFF"/>
                </a:solidFill>
                <a:latin typeface="Courier New" pitchFamily="34" charset="0"/>
                <a:ea typeface="Courier New" pitchFamily="34" charset="-122"/>
                <a:cs typeface="Courier New" pitchFamily="34" charset="-120"/>
              </a:rPr>
              <a:t>Phase 1</a:t>
            </a:r>
            <a:endParaRPr lang="en-US" sz="1100" dirty="0"/>
          </a:p>
        </p:txBody>
      </p:sp>
      <p:sp>
        <p:nvSpPr>
          <p:cNvPr id="14" name="Text 12"/>
          <p:cNvSpPr/>
          <p:nvPr/>
        </p:nvSpPr>
        <p:spPr>
          <a:xfrm>
            <a:off x="640080" y="5852160"/>
            <a:ext cx="6400800" cy="292608"/>
          </a:xfrm>
          <a:prstGeom prst="rect">
            <a:avLst/>
          </a:prstGeom>
          <a:noFill/>
          <a:ln/>
        </p:spPr>
        <p:txBody>
          <a:bodyPr wrap="square" lIns="0" tIns="0" rIns="0" bIns="0" rtlCol="0" anchor="ctr"/>
          <a:lstStyle/>
          <a:p>
            <a:pPr marL="0" indent="0">
              <a:buNone/>
            </a:pPr>
            <a:r>
              <a:rPr lang="en-US" sz="1200" dirty="0">
                <a:solidFill>
                  <a:srgbClr val="8B93A7"/>
                </a:solidFill>
                <a:latin typeface="Calibri" pitchFamily="34" charset="0"/>
                <a:ea typeface="Calibri" pitchFamily="34" charset="-122"/>
                <a:cs typeface="Calibri" pitchFamily="34" charset="-120"/>
              </a:rPr>
              <a:t>Technical walkthrough  ·  EdgeCodersHub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411480"/>
            <a:ext cx="10908792" cy="54864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The ask</a:t>
            </a:r>
            <a:endParaRPr lang="en-US" sz="3400" dirty="0"/>
          </a:p>
        </p:txBody>
      </p:sp>
      <p:sp>
        <p:nvSpPr>
          <p:cNvPr id="3" name="Text 1"/>
          <p:cNvSpPr/>
          <p:nvPr/>
        </p:nvSpPr>
        <p:spPr>
          <a:xfrm>
            <a:off x="640080" y="987552"/>
            <a:ext cx="10908792" cy="329184"/>
          </a:xfrm>
          <a:prstGeom prst="rect">
            <a:avLst/>
          </a:prstGeom>
          <a:noFill/>
          <a:ln/>
        </p:spPr>
        <p:txBody>
          <a:bodyPr wrap="square" lIns="0" tIns="0" rIns="0" bIns="0" rtlCol="0" anchor="ctr"/>
          <a:lstStyle/>
          <a:p>
            <a:pPr marL="0" indent="0">
              <a:buNone/>
            </a:pPr>
            <a:r>
              <a:rPr lang="en-US" sz="1500" dirty="0">
                <a:solidFill>
                  <a:srgbClr val="8B93A7"/>
                </a:solidFill>
                <a:latin typeface="Calibri" pitchFamily="34" charset="0"/>
                <a:ea typeface="Calibri" pitchFamily="34" charset="-122"/>
                <a:cs typeface="Calibri" pitchFamily="34" charset="-120"/>
              </a:rPr>
              <a:t>Hide our API calls so nobody can see them in the network tab</a:t>
            </a:r>
            <a:endParaRPr lang="en-US" sz="1500" dirty="0"/>
          </a:p>
        </p:txBody>
      </p:sp>
      <p:sp>
        <p:nvSpPr>
          <p:cNvPr id="4" name="Text 2"/>
          <p:cNvSpPr/>
          <p:nvPr/>
        </p:nvSpPr>
        <p:spPr>
          <a:xfrm>
            <a:off x="640080" y="1828800"/>
            <a:ext cx="5852160" cy="822960"/>
          </a:xfrm>
          <a:prstGeom prst="rect">
            <a:avLst/>
          </a:prstGeom>
          <a:noFill/>
          <a:ln/>
        </p:spPr>
        <p:txBody>
          <a:bodyPr wrap="square" lIns="0" tIns="0" rIns="0" bIns="0" rtlCol="0" anchor="ctr"/>
          <a:lstStyle/>
          <a:p>
            <a:pPr marL="0" indent="0">
              <a:buNone/>
            </a:pPr>
            <a:r>
              <a:rPr lang="en-US" sz="4600" b="1" dirty="0">
                <a:solidFill>
                  <a:srgbClr val="FF6B6B"/>
                </a:solidFill>
                <a:latin typeface="Calibri" pitchFamily="34" charset="0"/>
                <a:ea typeface="Calibri" pitchFamily="34" charset="-122"/>
                <a:cs typeface="Calibri" pitchFamily="34" charset="-120"/>
              </a:rPr>
              <a:t>You cannot.</a:t>
            </a:r>
            <a:endParaRPr lang="en-US" sz="4600" dirty="0"/>
          </a:p>
        </p:txBody>
      </p:sp>
      <p:sp>
        <p:nvSpPr>
          <p:cNvPr id="5" name="Text 3"/>
          <p:cNvSpPr/>
          <p:nvPr/>
        </p:nvSpPr>
        <p:spPr>
          <a:xfrm>
            <a:off x="640080" y="2743200"/>
            <a:ext cx="5669280" cy="1737360"/>
          </a:xfrm>
          <a:prstGeom prst="rect">
            <a:avLst/>
          </a:prstGeom>
          <a:noFill/>
          <a:ln/>
        </p:spPr>
        <p:txBody>
          <a:bodyPr wrap="square" lIns="0" tIns="0" rIns="0" bIns="0" rtlCol="0" anchor="t"/>
          <a:lstStyle/>
          <a:p>
            <a:pPr marL="0" indent="0">
              <a:lnSpc>
                <a:spcPts val="2200"/>
              </a:lnSpc>
              <a:buNone/>
            </a:pPr>
            <a:r>
              <a:rPr lang="en-US" sz="1500" dirty="0">
                <a:solidFill>
                  <a:srgbClr val="E8EAF0"/>
                </a:solidFill>
                <a:latin typeface="Calibri" pitchFamily="34" charset="0"/>
                <a:ea typeface="Calibri" pitchFamily="34" charset="-122"/>
                <a:cs typeface="Calibri" pitchFamily="34" charset="-120"/>
              </a:rPr>
              <a:t>The browser is the client. It has to resolve the URL, so it has to know it.
</a:t>
            </a:r>
            <a:endParaRPr lang="en-US" sz="1500" dirty="0"/>
          </a:p>
          <a:p>
            <a:pPr marL="0" indent="0">
              <a:lnSpc>
                <a:spcPts val="2200"/>
              </a:lnSpc>
              <a:buNone/>
            </a:pPr>
            <a:r>
              <a:rPr lang="en-US" sz="1500" dirty="0">
                <a:solidFill>
                  <a:srgbClr val="E8EAF0"/>
                </a:solidFill>
                <a:latin typeface="Calibri" pitchFamily="34" charset="0"/>
                <a:ea typeface="Calibri" pitchFamily="34" charset="-122"/>
                <a:cs typeface="Calibri" pitchFamily="34" charset="-120"/>
              </a:rPr>
              <a:t>Encryption does not change this. The key must reach the browser too. A breakpoint in the interceptor reads the plaintext before it is ever encrypted.</a:t>
            </a:r>
            <a:endParaRPr lang="en-US" sz="1500" dirty="0"/>
          </a:p>
        </p:txBody>
      </p:sp>
      <p:sp>
        <p:nvSpPr>
          <p:cNvPr id="6" name="Shape 4"/>
          <p:cNvSpPr/>
          <p:nvPr/>
        </p:nvSpPr>
        <p:spPr>
          <a:xfrm>
            <a:off x="6766560" y="1783080"/>
            <a:ext cx="4754880" cy="3291840"/>
          </a:xfrm>
          <a:prstGeom prst="roundRect">
            <a:avLst>
              <a:gd name="adj" fmla="val 2222"/>
            </a:avLst>
          </a:prstGeom>
          <a:solidFill>
            <a:srgbClr val="1A1E28"/>
          </a:solidFill>
          <a:ln w="12700">
            <a:solidFill>
              <a:srgbClr val="2B3140"/>
            </a:solidFill>
            <a:prstDash val="solid"/>
          </a:ln>
        </p:spPr>
        <p:txBody>
          <a:bodyPr/>
          <a:lstStyle/>
          <a:p>
            <a:endParaRPr lang="en-SG"/>
          </a:p>
        </p:txBody>
      </p:sp>
      <p:sp>
        <p:nvSpPr>
          <p:cNvPr id="7" name="Text 5"/>
          <p:cNvSpPr/>
          <p:nvPr/>
        </p:nvSpPr>
        <p:spPr>
          <a:xfrm>
            <a:off x="7040880" y="2011680"/>
            <a:ext cx="4206240" cy="365760"/>
          </a:xfrm>
          <a:prstGeom prst="rect">
            <a:avLst/>
          </a:prstGeom>
          <a:noFill/>
          <a:ln/>
        </p:spPr>
        <p:txBody>
          <a:bodyPr wrap="square" lIns="0" tIns="0" rIns="0" bIns="0" rtlCol="0" anchor="ctr"/>
          <a:lstStyle/>
          <a:p>
            <a:pPr marL="0" indent="0">
              <a:buNone/>
            </a:pPr>
            <a:r>
              <a:rPr lang="en-US" sz="1300" b="1" kern="0" spc="100">
                <a:solidFill>
                  <a:srgbClr val="8B93A7"/>
                </a:solidFill>
                <a:latin typeface="Calibri" pitchFamily="34" charset="0"/>
                <a:ea typeface="Calibri" pitchFamily="34" charset="-122"/>
                <a:cs typeface="Calibri" pitchFamily="34" charset="-120"/>
              </a:rPr>
              <a:t>So,</a:t>
            </a:r>
            <a:r>
              <a:rPr lang="en-US" sz="1300" b="1" kern="0" spc="100" dirty="0">
                <a:solidFill>
                  <a:srgbClr val="8B93A7"/>
                </a:solidFill>
                <a:latin typeface="Calibri" pitchFamily="34" charset="0"/>
                <a:ea typeface="Calibri" pitchFamily="34" charset="-122"/>
                <a:cs typeface="Calibri" pitchFamily="34" charset="-120"/>
              </a:rPr>
              <a:t> </a:t>
            </a:r>
            <a:r>
              <a:rPr lang="en-US" sz="1300" b="1" kern="0" spc="100">
                <a:solidFill>
                  <a:srgbClr val="8B93A7"/>
                </a:solidFill>
                <a:latin typeface="Calibri" pitchFamily="34" charset="0"/>
                <a:ea typeface="Calibri" pitchFamily="34" charset="-122"/>
                <a:cs typeface="Calibri" pitchFamily="34" charset="-120"/>
              </a:rPr>
              <a:t>we </a:t>
            </a:r>
            <a:r>
              <a:rPr lang="en-US" sz="1300" b="1" kern="0" spc="100" dirty="0">
                <a:solidFill>
                  <a:srgbClr val="8B93A7"/>
                </a:solidFill>
                <a:latin typeface="Calibri" pitchFamily="34" charset="0"/>
                <a:ea typeface="Calibri" pitchFamily="34" charset="-122"/>
                <a:cs typeface="Calibri" pitchFamily="34" charset="-120"/>
              </a:rPr>
              <a:t>changed the goal</a:t>
            </a:r>
            <a:endParaRPr lang="en-US" sz="1300" dirty="0"/>
          </a:p>
        </p:txBody>
      </p:sp>
      <p:sp>
        <p:nvSpPr>
          <p:cNvPr id="8" name="Text 6"/>
          <p:cNvSpPr/>
          <p:nvPr/>
        </p:nvSpPr>
        <p:spPr>
          <a:xfrm>
            <a:off x="7040880" y="2468880"/>
            <a:ext cx="4206240" cy="1097280"/>
          </a:xfrm>
          <a:prstGeom prst="rect">
            <a:avLst/>
          </a:prstGeom>
          <a:noFill/>
          <a:ln/>
        </p:spPr>
        <p:txBody>
          <a:bodyPr wrap="square" lIns="0" tIns="0" rIns="0" bIns="0" rtlCol="0" anchor="ctr"/>
          <a:lstStyle/>
          <a:p>
            <a:pPr marL="0" indent="0">
              <a:lnSpc>
                <a:spcPts val="3400"/>
              </a:lnSpc>
              <a:buNone/>
            </a:pPr>
            <a:r>
              <a:rPr lang="en-US" sz="3200" b="1" dirty="0">
                <a:solidFill>
                  <a:srgbClr val="4ADE80"/>
                </a:solidFill>
                <a:latin typeface="Calibri" pitchFamily="34" charset="0"/>
                <a:ea typeface="Calibri" pitchFamily="34" charset="-122"/>
                <a:cs typeface="Calibri" pitchFamily="34" charset="-120"/>
              </a:rPr>
              <a:t>Visible,</a:t>
            </a:r>
            <a:endParaRPr lang="en-US" sz="3200" dirty="0"/>
          </a:p>
          <a:p>
            <a:pPr marL="0" indent="0">
              <a:lnSpc>
                <a:spcPts val="3400"/>
              </a:lnSpc>
              <a:buNone/>
            </a:pPr>
            <a:r>
              <a:rPr lang="en-US" sz="3200" b="1" dirty="0">
                <a:solidFill>
                  <a:srgbClr val="4ADE80"/>
                </a:solidFill>
                <a:latin typeface="Calibri" pitchFamily="34" charset="0"/>
                <a:ea typeface="Calibri" pitchFamily="34" charset="-122"/>
                <a:cs typeface="Calibri" pitchFamily="34" charset="-120"/>
              </a:rPr>
              <a:t>but useless.</a:t>
            </a:r>
            <a:endParaRPr lang="en-US" sz="3200" dirty="0"/>
          </a:p>
        </p:txBody>
      </p:sp>
      <p:sp>
        <p:nvSpPr>
          <p:cNvPr id="9" name="Text 7"/>
          <p:cNvSpPr/>
          <p:nvPr/>
        </p:nvSpPr>
        <p:spPr>
          <a:xfrm>
            <a:off x="7040880" y="3703320"/>
            <a:ext cx="4206240" cy="1188720"/>
          </a:xfrm>
          <a:prstGeom prst="rect">
            <a:avLst/>
          </a:prstGeom>
          <a:noFill/>
          <a:ln/>
        </p:spPr>
        <p:txBody>
          <a:bodyPr wrap="square" lIns="0" tIns="0" rIns="0" bIns="0" rtlCol="0" anchor="t"/>
          <a:lstStyle/>
          <a:p>
            <a:pPr marL="0" indent="0">
              <a:lnSpc>
                <a:spcPts val="1900"/>
              </a:lnSpc>
              <a:buNone/>
            </a:pPr>
            <a:r>
              <a:rPr lang="en-US" sz="1300" dirty="0">
                <a:solidFill>
                  <a:srgbClr val="8B93A7"/>
                </a:solidFill>
                <a:latin typeface="Calibri" pitchFamily="34" charset="0"/>
                <a:ea typeface="Calibri" pitchFamily="34" charset="-122"/>
                <a:cs typeface="Calibri" pitchFamily="34" charset="-120"/>
              </a:rPr>
              <a:t>A reviewer opening F12 still sees a working API. What they get out of it is already redacted — and replaying the call gains them nothing.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411480"/>
            <a:ext cx="10908792" cy="54864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Before and after</a:t>
            </a:r>
            <a:endParaRPr lang="en-US" sz="3400" dirty="0"/>
          </a:p>
        </p:txBody>
      </p:sp>
      <p:sp>
        <p:nvSpPr>
          <p:cNvPr id="3" name="Text 1"/>
          <p:cNvSpPr/>
          <p:nvPr/>
        </p:nvSpPr>
        <p:spPr>
          <a:xfrm>
            <a:off x="640080" y="987552"/>
            <a:ext cx="10908792" cy="329184"/>
          </a:xfrm>
          <a:prstGeom prst="rect">
            <a:avLst/>
          </a:prstGeom>
          <a:noFill/>
          <a:ln/>
        </p:spPr>
        <p:txBody>
          <a:bodyPr wrap="square" lIns="0" tIns="0" rIns="0" bIns="0" rtlCol="0" anchor="ctr"/>
          <a:lstStyle/>
          <a:p>
            <a:pPr marL="0" indent="0">
              <a:buNone/>
            </a:pPr>
            <a:r>
              <a:rPr lang="en-US" sz="1500" dirty="0">
                <a:solidFill>
                  <a:srgbClr val="8B93A7"/>
                </a:solidFill>
                <a:latin typeface="Calibri" pitchFamily="34" charset="0"/>
                <a:ea typeface="Calibri" pitchFamily="34" charset="-122"/>
                <a:cs typeface="Calibri" pitchFamily="34" charset="-120"/>
              </a:rPr>
              <a:t>Same endpoint, same member, same DevTools Preview tab</a:t>
            </a:r>
            <a:endParaRPr lang="en-US" sz="1500" dirty="0"/>
          </a:p>
        </p:txBody>
      </p:sp>
      <p:sp>
        <p:nvSpPr>
          <p:cNvPr id="4" name="Shape 2"/>
          <p:cNvSpPr/>
          <p:nvPr/>
        </p:nvSpPr>
        <p:spPr>
          <a:xfrm>
            <a:off x="640080" y="1600200"/>
            <a:ext cx="5349240" cy="2788920"/>
          </a:xfrm>
          <a:prstGeom prst="roundRect">
            <a:avLst>
              <a:gd name="adj" fmla="val 2623"/>
            </a:avLst>
          </a:prstGeom>
          <a:solidFill>
            <a:srgbClr val="090B10"/>
          </a:solidFill>
          <a:ln w="12700">
            <a:solidFill>
              <a:srgbClr val="2B3140"/>
            </a:solidFill>
            <a:prstDash val="solid"/>
          </a:ln>
        </p:spPr>
        <p:txBody>
          <a:bodyPr/>
          <a:lstStyle/>
          <a:p>
            <a:endParaRPr lang="en-SG"/>
          </a:p>
        </p:txBody>
      </p:sp>
      <p:sp>
        <p:nvSpPr>
          <p:cNvPr id="5" name="Text 3"/>
          <p:cNvSpPr/>
          <p:nvPr/>
        </p:nvSpPr>
        <p:spPr>
          <a:xfrm>
            <a:off x="841248" y="1728216"/>
            <a:ext cx="4946904" cy="237744"/>
          </a:xfrm>
          <a:prstGeom prst="rect">
            <a:avLst/>
          </a:prstGeom>
          <a:noFill/>
          <a:ln/>
        </p:spPr>
        <p:txBody>
          <a:bodyPr wrap="square" lIns="0" tIns="0" rIns="0" bIns="0" rtlCol="0" anchor="ctr"/>
          <a:lstStyle/>
          <a:p>
            <a:pPr marL="0" indent="0">
              <a:buNone/>
            </a:pPr>
            <a:r>
              <a:rPr lang="en-US" sz="1000" b="1" kern="0" spc="100" dirty="0">
                <a:solidFill>
                  <a:srgbClr val="FF6B6B"/>
                </a:solidFill>
                <a:latin typeface="Calibri" pitchFamily="34" charset="0"/>
                <a:ea typeface="Calibri" pitchFamily="34" charset="-122"/>
                <a:cs typeface="Calibri" pitchFamily="34" charset="-120"/>
              </a:rPr>
              <a:t>BEFORE</a:t>
            </a:r>
            <a:endParaRPr lang="en-US" sz="1000" dirty="0"/>
          </a:p>
        </p:txBody>
      </p:sp>
      <p:sp>
        <p:nvSpPr>
          <p:cNvPr id="6" name="Text 4"/>
          <p:cNvSpPr/>
          <p:nvPr/>
        </p:nvSpPr>
        <p:spPr>
          <a:xfrm>
            <a:off x="841248" y="2020824"/>
            <a:ext cx="4946904" cy="2167128"/>
          </a:xfrm>
          <a:prstGeom prst="rect">
            <a:avLst/>
          </a:prstGeom>
          <a:noFill/>
          <a:ln/>
        </p:spPr>
        <p:txBody>
          <a:bodyPr wrap="square" lIns="0" tIns="0" rIns="0" bIns="0" rtlCol="0" anchor="t"/>
          <a:lstStyle/>
          <a:p>
            <a:pPr marL="0" indent="0">
              <a:lnSpc>
                <a:spcPts val="1500"/>
              </a:lnSpc>
              <a:buNone/>
            </a:pPr>
            <a:r>
              <a:rPr lang="en-US" sz="1050" dirty="0">
                <a:solidFill>
                  <a:srgbClr val="E8EAF0"/>
                </a:solidFill>
                <a:latin typeface="Courier New" pitchFamily="34" charset="0"/>
                <a:ea typeface="Courier New" pitchFamily="34" charset="-122"/>
                <a:cs typeface="Courier New" pitchFamily="34" charset="-120"/>
              </a:rPr>
              <a:t>{
  "memberId": 88214,
</a:t>
            </a:r>
            <a:r>
              <a:rPr lang="en-US" sz="1050" dirty="0">
                <a:solidFill>
                  <a:srgbClr val="FF6B6B"/>
                </a:solidFill>
                <a:latin typeface="Courier New" pitchFamily="34" charset="0"/>
                <a:ea typeface="Courier New" pitchFamily="34" charset="-122"/>
                <a:cs typeface="Courier New" pitchFamily="34" charset="-120"/>
              </a:rPr>
              <a:t>  "nric": "S1234567D",
</a:t>
            </a:r>
            <a:r>
              <a:rPr lang="en-US" sz="1050" dirty="0">
                <a:solidFill>
                  <a:srgbClr val="E8EAF0"/>
                </a:solidFill>
                <a:latin typeface="Courier New" pitchFamily="34" charset="0"/>
                <a:ea typeface="Courier New" pitchFamily="34" charset="-122"/>
                <a:cs typeface="Courier New" pitchFamily="34" charset="-120"/>
              </a:rPr>
              <a:t>  "name": "Tan Wei Ming",
</a:t>
            </a:r>
            <a:r>
              <a:rPr lang="en-US" sz="1050" dirty="0">
                <a:solidFill>
                  <a:srgbClr val="FF6B6B"/>
                </a:solidFill>
                <a:latin typeface="Courier New" pitchFamily="34" charset="0"/>
                <a:ea typeface="Courier New" pitchFamily="34" charset="-122"/>
                <a:cs typeface="Courier New" pitchFamily="34" charset="-120"/>
              </a:rPr>
              <a:t>  "dateOfBirth": "1985-03-14",
  "accountNumber": "0123456789",
  "email": "weiming.tan@example.com",
  "mobileNumber": "91234567",
</a:t>
            </a:r>
            <a:r>
              <a:rPr lang="en-US" sz="1050" dirty="0">
                <a:solidFill>
                  <a:srgbClr val="E8EAF0"/>
                </a:solidFill>
                <a:latin typeface="Courier New" pitchFamily="34" charset="0"/>
                <a:ea typeface="Courier New" pitchFamily="34" charset="-122"/>
                <a:cs typeface="Courier New" pitchFamily="34" charset="-120"/>
              </a:rPr>
              <a:t>  "contributions": [ ... ]
}</a:t>
            </a:r>
            <a:endParaRPr lang="en-US" sz="1050" dirty="0"/>
          </a:p>
        </p:txBody>
      </p:sp>
      <p:sp>
        <p:nvSpPr>
          <p:cNvPr id="7" name="Shape 5"/>
          <p:cNvSpPr/>
          <p:nvPr/>
        </p:nvSpPr>
        <p:spPr>
          <a:xfrm>
            <a:off x="6245352" y="1600200"/>
            <a:ext cx="5349240" cy="2788920"/>
          </a:xfrm>
          <a:prstGeom prst="roundRect">
            <a:avLst>
              <a:gd name="adj" fmla="val 2623"/>
            </a:avLst>
          </a:prstGeom>
          <a:solidFill>
            <a:srgbClr val="090B10"/>
          </a:solidFill>
          <a:ln w="12700">
            <a:solidFill>
              <a:srgbClr val="2B3140"/>
            </a:solidFill>
            <a:prstDash val="solid"/>
          </a:ln>
        </p:spPr>
        <p:txBody>
          <a:bodyPr/>
          <a:lstStyle/>
          <a:p>
            <a:endParaRPr lang="en-SG"/>
          </a:p>
        </p:txBody>
      </p:sp>
      <p:sp>
        <p:nvSpPr>
          <p:cNvPr id="8" name="Text 6"/>
          <p:cNvSpPr/>
          <p:nvPr/>
        </p:nvSpPr>
        <p:spPr>
          <a:xfrm>
            <a:off x="6446520" y="1728216"/>
            <a:ext cx="4946904" cy="237744"/>
          </a:xfrm>
          <a:prstGeom prst="rect">
            <a:avLst/>
          </a:prstGeom>
          <a:noFill/>
          <a:ln/>
        </p:spPr>
        <p:txBody>
          <a:bodyPr wrap="square" lIns="0" tIns="0" rIns="0" bIns="0" rtlCol="0" anchor="ctr"/>
          <a:lstStyle/>
          <a:p>
            <a:pPr marL="0" indent="0">
              <a:buNone/>
            </a:pPr>
            <a:r>
              <a:rPr lang="en-US" sz="1000" b="1" kern="0" spc="100" dirty="0">
                <a:solidFill>
                  <a:srgbClr val="4ADE80"/>
                </a:solidFill>
                <a:latin typeface="Calibri" pitchFamily="34" charset="0"/>
                <a:ea typeface="Calibri" pitchFamily="34" charset="-122"/>
                <a:cs typeface="Calibri" pitchFamily="34" charset="-120"/>
              </a:rPr>
              <a:t>AFTER</a:t>
            </a:r>
            <a:endParaRPr lang="en-US" sz="1000" dirty="0"/>
          </a:p>
        </p:txBody>
      </p:sp>
      <p:sp>
        <p:nvSpPr>
          <p:cNvPr id="9" name="Text 7"/>
          <p:cNvSpPr/>
          <p:nvPr/>
        </p:nvSpPr>
        <p:spPr>
          <a:xfrm>
            <a:off x="6446520" y="2020824"/>
            <a:ext cx="4946904" cy="2167128"/>
          </a:xfrm>
          <a:prstGeom prst="rect">
            <a:avLst/>
          </a:prstGeom>
          <a:noFill/>
          <a:ln/>
        </p:spPr>
        <p:txBody>
          <a:bodyPr wrap="square" lIns="0" tIns="0" rIns="0" bIns="0" rtlCol="0" anchor="t"/>
          <a:lstStyle/>
          <a:p>
            <a:pPr marL="0" indent="0">
              <a:lnSpc>
                <a:spcPts val="1500"/>
              </a:lnSpc>
              <a:buNone/>
            </a:pPr>
            <a:r>
              <a:rPr lang="en-US" sz="1050" dirty="0">
                <a:solidFill>
                  <a:srgbClr val="E8EAF0"/>
                </a:solidFill>
                <a:latin typeface="Courier New" pitchFamily="34" charset="0"/>
                <a:ea typeface="Courier New" pitchFamily="34" charset="-122"/>
                <a:cs typeface="Courier New" pitchFamily="34" charset="-120"/>
              </a:rPr>
              <a:t>{
  "memberId": 88214,
</a:t>
            </a:r>
            <a:r>
              <a:rPr lang="en-US" sz="1050" dirty="0">
                <a:solidFill>
                  <a:srgbClr val="4ADE80"/>
                </a:solidFill>
                <a:latin typeface="Courier New" pitchFamily="34" charset="0"/>
                <a:ea typeface="Courier New" pitchFamily="34" charset="-122"/>
                <a:cs typeface="Courier New" pitchFamily="34" charset="-120"/>
              </a:rPr>
              <a:t>  "nric": "S****567D",
</a:t>
            </a:r>
            <a:r>
              <a:rPr lang="en-US" sz="1050" dirty="0">
                <a:solidFill>
                  <a:srgbClr val="E8EAF0"/>
                </a:solidFill>
                <a:latin typeface="Courier New" pitchFamily="34" charset="0"/>
                <a:ea typeface="Courier New" pitchFamily="34" charset="-122"/>
                <a:cs typeface="Courier New" pitchFamily="34" charset="-120"/>
              </a:rPr>
              <a:t>  "name": "Tan Wei Ming",
</a:t>
            </a:r>
            <a:r>
              <a:rPr lang="en-US" sz="1050" dirty="0">
                <a:solidFill>
                  <a:srgbClr val="4ADE80"/>
                </a:solidFill>
                <a:latin typeface="Courier New" pitchFamily="34" charset="0"/>
                <a:ea typeface="Courier New" pitchFamily="34" charset="-122"/>
                <a:cs typeface="Courier New" pitchFamily="34" charset="-120"/>
              </a:rPr>
              <a:t>  "dateOfBirth": "1985",
  "accountNumber": "******6789",
  "email": "w*********n@example.com",
  "mobileNumber": "****4567",
</a:t>
            </a:r>
            <a:r>
              <a:rPr lang="en-US" sz="1050" dirty="0">
                <a:solidFill>
                  <a:srgbClr val="E8EAF0"/>
                </a:solidFill>
                <a:latin typeface="Courier New" pitchFamily="34" charset="0"/>
                <a:ea typeface="Courier New" pitchFamily="34" charset="-122"/>
                <a:cs typeface="Courier New" pitchFamily="34" charset="-120"/>
              </a:rPr>
              <a:t>  "contributions": [ ... ]
}</a:t>
            </a:r>
            <a:endParaRPr lang="en-US" sz="1050" dirty="0"/>
          </a:p>
        </p:txBody>
      </p:sp>
      <p:sp>
        <p:nvSpPr>
          <p:cNvPr id="10" name="Text 8"/>
          <p:cNvSpPr/>
          <p:nvPr/>
        </p:nvSpPr>
        <p:spPr>
          <a:xfrm>
            <a:off x="640080" y="4572000"/>
            <a:ext cx="10881360" cy="365760"/>
          </a:xfrm>
          <a:prstGeom prst="rect">
            <a:avLst/>
          </a:prstGeom>
          <a:noFill/>
          <a:ln/>
        </p:spPr>
        <p:txBody>
          <a:bodyPr wrap="square" lIns="0" tIns="0" rIns="0" bIns="0" rtlCol="0" anchor="ctr"/>
          <a:lstStyle/>
          <a:p>
            <a:pPr marL="0" indent="0">
              <a:buNone/>
            </a:pPr>
            <a:r>
              <a:rPr lang="en-US" sz="1300" dirty="0">
                <a:solidFill>
                  <a:srgbClr val="8B93A7"/>
                </a:solidFill>
                <a:latin typeface="Calibri" pitchFamily="34" charset="0"/>
                <a:ea typeface="Calibri" pitchFamily="34" charset="-122"/>
                <a:cs typeface="Calibri" pitchFamily="34" charset="-120"/>
              </a:rPr>
              <a:t>The full value never leaves the datacentre. There is no key in the browser, so there is nothing to recover.</a:t>
            </a:r>
            <a:endParaRPr lang="en-US" sz="1300" dirty="0"/>
          </a:p>
        </p:txBody>
      </p:sp>
      <p:sp>
        <p:nvSpPr>
          <p:cNvPr id="11" name="Shape 9"/>
          <p:cNvSpPr/>
          <p:nvPr/>
        </p:nvSpPr>
        <p:spPr>
          <a:xfrm>
            <a:off x="640080" y="5074920"/>
            <a:ext cx="3474720" cy="1005840"/>
          </a:xfrm>
          <a:prstGeom prst="roundRect">
            <a:avLst>
              <a:gd name="adj" fmla="val 7273"/>
            </a:avLst>
          </a:prstGeom>
          <a:solidFill>
            <a:srgbClr val="1A1E28"/>
          </a:solidFill>
          <a:ln w="12700">
            <a:solidFill>
              <a:srgbClr val="2B3140"/>
            </a:solidFill>
            <a:prstDash val="solid"/>
          </a:ln>
        </p:spPr>
        <p:txBody>
          <a:bodyPr/>
          <a:lstStyle/>
          <a:p>
            <a:endParaRPr lang="en-SG"/>
          </a:p>
        </p:txBody>
      </p:sp>
      <p:sp>
        <p:nvSpPr>
          <p:cNvPr id="12" name="Text 10"/>
          <p:cNvSpPr/>
          <p:nvPr/>
        </p:nvSpPr>
        <p:spPr>
          <a:xfrm>
            <a:off x="868680" y="5239512"/>
            <a:ext cx="3017520" cy="274320"/>
          </a:xfrm>
          <a:prstGeom prst="rect">
            <a:avLst/>
          </a:prstGeom>
          <a:noFill/>
          <a:ln/>
        </p:spPr>
        <p:txBody>
          <a:bodyPr wrap="square" lIns="0" tIns="0" rIns="0" bIns="0" rtlCol="0" anchor="ctr"/>
          <a:lstStyle/>
          <a:p>
            <a:pPr marL="0" indent="0">
              <a:buNone/>
            </a:pPr>
            <a:r>
              <a:rPr lang="en-US" sz="1250" b="1" dirty="0">
                <a:solidFill>
                  <a:srgbClr val="4ADE80"/>
                </a:solidFill>
                <a:latin typeface="Calibri" pitchFamily="34" charset="0"/>
                <a:ea typeface="Calibri" pitchFamily="34" charset="-122"/>
                <a:cs typeface="Calibri" pitchFamily="34" charset="-120"/>
              </a:rPr>
              <a:t>Per field, not per payload</a:t>
            </a:r>
            <a:endParaRPr lang="en-US" sz="1250" dirty="0"/>
          </a:p>
        </p:txBody>
      </p:sp>
      <p:sp>
        <p:nvSpPr>
          <p:cNvPr id="13" name="Text 11"/>
          <p:cNvSpPr/>
          <p:nvPr/>
        </p:nvSpPr>
        <p:spPr>
          <a:xfrm>
            <a:off x="868680" y="5522976"/>
            <a:ext cx="3017520" cy="475488"/>
          </a:xfrm>
          <a:prstGeom prst="rect">
            <a:avLst/>
          </a:prstGeom>
          <a:noFill/>
          <a:ln/>
        </p:spPr>
        <p:txBody>
          <a:bodyPr wrap="square" lIns="0" tIns="0" rIns="0" bIns="0" rtlCol="0" anchor="t"/>
          <a:lstStyle/>
          <a:p>
            <a:pPr marL="0" indent="0">
              <a:lnSpc>
                <a:spcPts val="1400"/>
              </a:lnSpc>
              <a:buNone/>
            </a:pPr>
            <a:r>
              <a:rPr lang="en-US" sz="1100" dirty="0">
                <a:solidFill>
                  <a:srgbClr val="8B93A7"/>
                </a:solidFill>
                <a:latin typeface="Calibri" pitchFamily="34" charset="0"/>
                <a:ea typeface="Calibri" pitchFamily="34" charset="-122"/>
                <a:cs typeface="Calibri" pitchFamily="34" charset="-120"/>
              </a:rPr>
              <a:t>contributions[] is untouched, so the response is still readable JSON.</a:t>
            </a:r>
            <a:endParaRPr lang="en-US" sz="1100" dirty="0"/>
          </a:p>
        </p:txBody>
      </p:sp>
      <p:sp>
        <p:nvSpPr>
          <p:cNvPr id="14" name="Shape 12"/>
          <p:cNvSpPr/>
          <p:nvPr/>
        </p:nvSpPr>
        <p:spPr>
          <a:xfrm>
            <a:off x="4352544" y="5074920"/>
            <a:ext cx="3474720" cy="1005840"/>
          </a:xfrm>
          <a:prstGeom prst="roundRect">
            <a:avLst>
              <a:gd name="adj" fmla="val 7273"/>
            </a:avLst>
          </a:prstGeom>
          <a:solidFill>
            <a:srgbClr val="1A1E28"/>
          </a:solidFill>
          <a:ln w="12700">
            <a:solidFill>
              <a:srgbClr val="2B3140"/>
            </a:solidFill>
            <a:prstDash val="solid"/>
          </a:ln>
        </p:spPr>
        <p:txBody>
          <a:bodyPr/>
          <a:lstStyle/>
          <a:p>
            <a:endParaRPr lang="en-SG"/>
          </a:p>
        </p:txBody>
      </p:sp>
      <p:sp>
        <p:nvSpPr>
          <p:cNvPr id="15" name="Text 13"/>
          <p:cNvSpPr/>
          <p:nvPr/>
        </p:nvSpPr>
        <p:spPr>
          <a:xfrm>
            <a:off x="4581144" y="5239512"/>
            <a:ext cx="3017520" cy="274320"/>
          </a:xfrm>
          <a:prstGeom prst="rect">
            <a:avLst/>
          </a:prstGeom>
          <a:noFill/>
          <a:ln/>
        </p:spPr>
        <p:txBody>
          <a:bodyPr wrap="square" lIns="0" tIns="0" rIns="0" bIns="0" rtlCol="0" anchor="ctr"/>
          <a:lstStyle/>
          <a:p>
            <a:pPr marL="0" indent="0">
              <a:buNone/>
            </a:pPr>
            <a:r>
              <a:rPr lang="en-US" sz="1250" b="1" dirty="0">
                <a:solidFill>
                  <a:srgbClr val="4ADE80"/>
                </a:solidFill>
                <a:latin typeface="Calibri" pitchFamily="34" charset="0"/>
                <a:ea typeface="Calibri" pitchFamily="34" charset="-122"/>
                <a:cs typeface="Calibri" pitchFamily="34" charset="-120"/>
              </a:rPr>
              <a:t>WAF and caching survive</a:t>
            </a:r>
            <a:endParaRPr lang="en-US" sz="1250" dirty="0"/>
          </a:p>
        </p:txBody>
      </p:sp>
      <p:sp>
        <p:nvSpPr>
          <p:cNvPr id="16" name="Text 14"/>
          <p:cNvSpPr/>
          <p:nvPr/>
        </p:nvSpPr>
        <p:spPr>
          <a:xfrm>
            <a:off x="4581144" y="5522976"/>
            <a:ext cx="3017520" cy="475488"/>
          </a:xfrm>
          <a:prstGeom prst="rect">
            <a:avLst/>
          </a:prstGeom>
          <a:noFill/>
          <a:ln/>
        </p:spPr>
        <p:txBody>
          <a:bodyPr wrap="square" lIns="0" tIns="0" rIns="0" bIns="0" rtlCol="0" anchor="t"/>
          <a:lstStyle/>
          <a:p>
            <a:pPr marL="0" indent="0">
              <a:lnSpc>
                <a:spcPts val="1400"/>
              </a:lnSpc>
              <a:buNone/>
            </a:pPr>
            <a:r>
              <a:rPr lang="en-US" sz="1100" dirty="0">
                <a:solidFill>
                  <a:srgbClr val="8B93A7"/>
                </a:solidFill>
                <a:latin typeface="Calibri" pitchFamily="34" charset="0"/>
                <a:ea typeface="Calibri" pitchFamily="34" charset="-122"/>
                <a:cs typeface="Calibri" pitchFamily="34" charset="-120"/>
              </a:rPr>
              <a:t>Nothing is encrypted, so inspection, caching and APM all keep working.</a:t>
            </a:r>
            <a:endParaRPr lang="en-US" sz="1100" dirty="0"/>
          </a:p>
        </p:txBody>
      </p:sp>
      <p:sp>
        <p:nvSpPr>
          <p:cNvPr id="17" name="Shape 15"/>
          <p:cNvSpPr/>
          <p:nvPr/>
        </p:nvSpPr>
        <p:spPr>
          <a:xfrm>
            <a:off x="8065008" y="5074920"/>
            <a:ext cx="3474720" cy="1005840"/>
          </a:xfrm>
          <a:prstGeom prst="roundRect">
            <a:avLst>
              <a:gd name="adj" fmla="val 7273"/>
            </a:avLst>
          </a:prstGeom>
          <a:solidFill>
            <a:srgbClr val="1A1E28"/>
          </a:solidFill>
          <a:ln w="12700">
            <a:solidFill>
              <a:srgbClr val="2B3140"/>
            </a:solidFill>
            <a:prstDash val="solid"/>
          </a:ln>
        </p:spPr>
        <p:txBody>
          <a:bodyPr/>
          <a:lstStyle/>
          <a:p>
            <a:endParaRPr lang="en-SG"/>
          </a:p>
        </p:txBody>
      </p:sp>
      <p:sp>
        <p:nvSpPr>
          <p:cNvPr id="18" name="Text 16"/>
          <p:cNvSpPr/>
          <p:nvPr/>
        </p:nvSpPr>
        <p:spPr>
          <a:xfrm>
            <a:off x="8293608" y="5239512"/>
            <a:ext cx="3017520" cy="274320"/>
          </a:xfrm>
          <a:prstGeom prst="rect">
            <a:avLst/>
          </a:prstGeom>
          <a:noFill/>
          <a:ln/>
        </p:spPr>
        <p:txBody>
          <a:bodyPr wrap="square" lIns="0" tIns="0" rIns="0" bIns="0" rtlCol="0" anchor="ctr"/>
          <a:lstStyle/>
          <a:p>
            <a:pPr marL="0" indent="0">
              <a:buNone/>
            </a:pPr>
            <a:r>
              <a:rPr lang="en-US" sz="1250" b="1" dirty="0">
                <a:solidFill>
                  <a:srgbClr val="4ADE80"/>
                </a:solidFill>
                <a:latin typeface="Calibri" pitchFamily="34" charset="0"/>
                <a:ea typeface="Calibri" pitchFamily="34" charset="-122"/>
                <a:cs typeface="Calibri" pitchFamily="34" charset="-120"/>
              </a:rPr>
              <a:t>Nothing to debug blind</a:t>
            </a:r>
            <a:endParaRPr lang="en-US" sz="1250" dirty="0"/>
          </a:p>
        </p:txBody>
      </p:sp>
      <p:sp>
        <p:nvSpPr>
          <p:cNvPr id="19" name="Text 17"/>
          <p:cNvSpPr/>
          <p:nvPr/>
        </p:nvSpPr>
        <p:spPr>
          <a:xfrm>
            <a:off x="8293608" y="5522976"/>
            <a:ext cx="3017520" cy="475488"/>
          </a:xfrm>
          <a:prstGeom prst="rect">
            <a:avLst/>
          </a:prstGeom>
          <a:noFill/>
          <a:ln/>
        </p:spPr>
        <p:txBody>
          <a:bodyPr wrap="square" lIns="0" tIns="0" rIns="0" bIns="0" rtlCol="0" anchor="t"/>
          <a:lstStyle/>
          <a:p>
            <a:pPr marL="0" indent="0">
              <a:lnSpc>
                <a:spcPts val="1400"/>
              </a:lnSpc>
              <a:buNone/>
            </a:pPr>
            <a:r>
              <a:rPr lang="en-US" sz="1100" dirty="0">
                <a:solidFill>
                  <a:srgbClr val="8B93A7"/>
                </a:solidFill>
                <a:latin typeface="Calibri" pitchFamily="34" charset="0"/>
                <a:ea typeface="Calibri" pitchFamily="34" charset="-122"/>
                <a:cs typeface="Calibri" pitchFamily="34" charset="-120"/>
              </a:rPr>
              <a:t>A production incident still shows you a legible response body.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411480"/>
            <a:ext cx="10908792" cy="54864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Where masking happens</a:t>
            </a:r>
            <a:endParaRPr lang="en-US" sz="3400" dirty="0"/>
          </a:p>
        </p:txBody>
      </p:sp>
      <p:sp>
        <p:nvSpPr>
          <p:cNvPr id="3" name="Text 1"/>
          <p:cNvSpPr/>
          <p:nvPr/>
        </p:nvSpPr>
        <p:spPr>
          <a:xfrm>
            <a:off x="640080" y="987552"/>
            <a:ext cx="10908792" cy="329184"/>
          </a:xfrm>
          <a:prstGeom prst="rect">
            <a:avLst/>
          </a:prstGeom>
          <a:noFill/>
          <a:ln/>
        </p:spPr>
        <p:txBody>
          <a:bodyPr wrap="square" lIns="0" tIns="0" rIns="0" bIns="0" rtlCol="0" anchor="ctr"/>
          <a:lstStyle/>
          <a:p>
            <a:pPr marL="0" indent="0">
              <a:buNone/>
            </a:pPr>
            <a:r>
              <a:rPr lang="en-US" sz="1500" dirty="0">
                <a:solidFill>
                  <a:srgbClr val="8B93A7"/>
                </a:solidFill>
                <a:latin typeface="Calibri" pitchFamily="34" charset="0"/>
                <a:ea typeface="Calibri" pitchFamily="34" charset="-122"/>
                <a:cs typeface="Calibri" pitchFamily="34" charset="-120"/>
              </a:rPr>
              <a:t>At the API boundary — never in the domain</a:t>
            </a:r>
            <a:endParaRPr lang="en-US" sz="1500" dirty="0"/>
          </a:p>
        </p:txBody>
      </p:sp>
      <p:sp>
        <p:nvSpPr>
          <p:cNvPr id="4" name="Shape 2"/>
          <p:cNvSpPr/>
          <p:nvPr/>
        </p:nvSpPr>
        <p:spPr>
          <a:xfrm>
            <a:off x="640080" y="1965960"/>
            <a:ext cx="2267712" cy="1691640"/>
          </a:xfrm>
          <a:prstGeom prst="roundRect">
            <a:avLst>
              <a:gd name="adj" fmla="val 4324"/>
            </a:avLst>
          </a:prstGeom>
          <a:solidFill>
            <a:srgbClr val="1A1E28"/>
          </a:solidFill>
          <a:ln w="12700">
            <a:solidFill>
              <a:srgbClr val="2B3140"/>
            </a:solidFill>
            <a:prstDash val="solid"/>
          </a:ln>
        </p:spPr>
        <p:txBody>
          <a:bodyPr/>
          <a:lstStyle/>
          <a:p>
            <a:endParaRPr lang="en-SG"/>
          </a:p>
        </p:txBody>
      </p:sp>
      <p:sp>
        <p:nvSpPr>
          <p:cNvPr id="5" name="Text 3"/>
          <p:cNvSpPr/>
          <p:nvPr/>
        </p:nvSpPr>
        <p:spPr>
          <a:xfrm>
            <a:off x="822960" y="2176272"/>
            <a:ext cx="1901952" cy="310896"/>
          </a:xfrm>
          <a:prstGeom prst="rect">
            <a:avLst/>
          </a:prstGeom>
          <a:noFill/>
          <a:ln/>
        </p:spPr>
        <p:txBody>
          <a:bodyPr wrap="square" lIns="0" tIns="0" rIns="0" bIns="0" rtlCol="0" anchor="ctr"/>
          <a:lstStyle/>
          <a:p>
            <a:pPr marL="0" indent="0">
              <a:buNone/>
            </a:pPr>
            <a:r>
              <a:rPr lang="en-US" sz="1500" b="1" dirty="0">
                <a:solidFill>
                  <a:srgbClr val="E8EAF0"/>
                </a:solidFill>
                <a:latin typeface="Calibri" pitchFamily="34" charset="0"/>
                <a:ea typeface="Calibri" pitchFamily="34" charset="-122"/>
                <a:cs typeface="Calibri" pitchFamily="34" charset="-120"/>
              </a:rPr>
              <a:t>Domain + DB</a:t>
            </a:r>
            <a:endParaRPr lang="en-US" sz="1500" dirty="0"/>
          </a:p>
        </p:txBody>
      </p:sp>
      <p:sp>
        <p:nvSpPr>
          <p:cNvPr id="6" name="Text 4"/>
          <p:cNvSpPr/>
          <p:nvPr/>
        </p:nvSpPr>
        <p:spPr>
          <a:xfrm>
            <a:off x="822960" y="2487168"/>
            <a:ext cx="1901952" cy="310896"/>
          </a:xfrm>
          <a:prstGeom prst="rect">
            <a:avLst/>
          </a:prstGeom>
          <a:noFill/>
          <a:ln/>
        </p:spPr>
        <p:txBody>
          <a:bodyPr wrap="square" lIns="0" tIns="0" rIns="0" bIns="0" rtlCol="0" anchor="ctr"/>
          <a:lstStyle/>
          <a:p>
            <a:pPr marL="0" indent="0">
              <a:buNone/>
            </a:pPr>
            <a:r>
              <a:rPr lang="en-US" sz="1100" dirty="0">
                <a:solidFill>
                  <a:srgbClr val="8B93A7"/>
                </a:solidFill>
                <a:latin typeface="Calibri" pitchFamily="34" charset="0"/>
                <a:ea typeface="Calibri" pitchFamily="34" charset="-122"/>
                <a:cs typeface="Calibri" pitchFamily="34" charset="-120"/>
              </a:rPr>
              <a:t>real values</a:t>
            </a:r>
            <a:endParaRPr lang="en-US" sz="1100" dirty="0"/>
          </a:p>
        </p:txBody>
      </p:sp>
      <p:sp>
        <p:nvSpPr>
          <p:cNvPr id="7" name="Text 5"/>
          <p:cNvSpPr/>
          <p:nvPr/>
        </p:nvSpPr>
        <p:spPr>
          <a:xfrm>
            <a:off x="822960" y="3017520"/>
            <a:ext cx="1901952" cy="310896"/>
          </a:xfrm>
          <a:prstGeom prst="rect">
            <a:avLst/>
          </a:prstGeom>
          <a:noFill/>
          <a:ln/>
        </p:spPr>
        <p:txBody>
          <a:bodyPr wrap="square" lIns="0" tIns="0" rIns="0" bIns="0" rtlCol="0" anchor="ctr"/>
          <a:lstStyle/>
          <a:p>
            <a:pPr marL="0" indent="0">
              <a:buNone/>
            </a:pPr>
            <a:r>
              <a:rPr lang="en-US" sz="1200" dirty="0">
                <a:solidFill>
                  <a:srgbClr val="FF6B6B"/>
                </a:solidFill>
                <a:latin typeface="Courier New" pitchFamily="34" charset="0"/>
                <a:ea typeface="Courier New" pitchFamily="34" charset="-122"/>
                <a:cs typeface="Courier New" pitchFamily="34" charset="-120"/>
              </a:rPr>
              <a:t>S1234567D</a:t>
            </a:r>
            <a:endParaRPr lang="en-US" sz="1200" dirty="0"/>
          </a:p>
        </p:txBody>
      </p:sp>
      <p:sp>
        <p:nvSpPr>
          <p:cNvPr id="8" name="Shape 6"/>
          <p:cNvSpPr/>
          <p:nvPr/>
        </p:nvSpPr>
        <p:spPr>
          <a:xfrm>
            <a:off x="2907792" y="2807208"/>
            <a:ext cx="612648" cy="0"/>
          </a:xfrm>
          <a:prstGeom prst="line">
            <a:avLst/>
          </a:prstGeom>
          <a:noFill/>
          <a:ln w="19050">
            <a:solidFill>
              <a:srgbClr val="2B3140"/>
            </a:solidFill>
            <a:prstDash val="solid"/>
            <a:tailEnd type="triangle"/>
          </a:ln>
        </p:spPr>
        <p:txBody>
          <a:bodyPr/>
          <a:lstStyle/>
          <a:p>
            <a:endParaRPr lang="en-SG"/>
          </a:p>
        </p:txBody>
      </p:sp>
      <p:sp>
        <p:nvSpPr>
          <p:cNvPr id="9" name="Shape 7"/>
          <p:cNvSpPr/>
          <p:nvPr/>
        </p:nvSpPr>
        <p:spPr>
          <a:xfrm>
            <a:off x="3520440" y="1965960"/>
            <a:ext cx="2267712" cy="1691640"/>
          </a:xfrm>
          <a:prstGeom prst="roundRect">
            <a:avLst>
              <a:gd name="adj" fmla="val 4324"/>
            </a:avLst>
          </a:prstGeom>
          <a:solidFill>
            <a:srgbClr val="1A1E28"/>
          </a:solidFill>
          <a:ln w="12700">
            <a:solidFill>
              <a:srgbClr val="4F8CFF"/>
            </a:solidFill>
            <a:prstDash val="solid"/>
          </a:ln>
        </p:spPr>
        <p:txBody>
          <a:bodyPr/>
          <a:lstStyle/>
          <a:p>
            <a:endParaRPr lang="en-SG"/>
          </a:p>
        </p:txBody>
      </p:sp>
      <p:sp>
        <p:nvSpPr>
          <p:cNvPr id="10" name="Text 8"/>
          <p:cNvSpPr/>
          <p:nvPr/>
        </p:nvSpPr>
        <p:spPr>
          <a:xfrm>
            <a:off x="3703320" y="2176272"/>
            <a:ext cx="1901952" cy="310896"/>
          </a:xfrm>
          <a:prstGeom prst="rect">
            <a:avLst/>
          </a:prstGeom>
          <a:noFill/>
          <a:ln/>
        </p:spPr>
        <p:txBody>
          <a:bodyPr wrap="square" lIns="0" tIns="0" rIns="0" bIns="0" rtlCol="0" anchor="ctr"/>
          <a:lstStyle/>
          <a:p>
            <a:pPr marL="0" indent="0">
              <a:buNone/>
            </a:pPr>
            <a:r>
              <a:rPr lang="en-US" sz="1500" b="1" dirty="0">
                <a:solidFill>
                  <a:srgbClr val="4F8CFF"/>
                </a:solidFill>
                <a:latin typeface="Calibri" pitchFamily="34" charset="0"/>
                <a:ea typeface="Calibri" pitchFamily="34" charset="-122"/>
                <a:cs typeface="Calibri" pitchFamily="34" charset="-120"/>
              </a:rPr>
              <a:t>API boundary</a:t>
            </a:r>
            <a:endParaRPr lang="en-US" sz="1500" dirty="0"/>
          </a:p>
        </p:txBody>
      </p:sp>
      <p:sp>
        <p:nvSpPr>
          <p:cNvPr id="11" name="Text 9"/>
          <p:cNvSpPr/>
          <p:nvPr/>
        </p:nvSpPr>
        <p:spPr>
          <a:xfrm>
            <a:off x="3703320" y="2487168"/>
            <a:ext cx="1901952" cy="310896"/>
          </a:xfrm>
          <a:prstGeom prst="rect">
            <a:avLst/>
          </a:prstGeom>
          <a:noFill/>
          <a:ln/>
        </p:spPr>
        <p:txBody>
          <a:bodyPr wrap="square" lIns="0" tIns="0" rIns="0" bIns="0" rtlCol="0" anchor="ctr"/>
          <a:lstStyle/>
          <a:p>
            <a:pPr marL="0" indent="0">
              <a:buNone/>
            </a:pPr>
            <a:r>
              <a:rPr lang="en-US" sz="1100" dirty="0">
                <a:solidFill>
                  <a:srgbClr val="8B93A7"/>
                </a:solidFill>
                <a:latin typeface="Calibri" pitchFamily="34" charset="0"/>
                <a:ea typeface="Calibri" pitchFamily="34" charset="-122"/>
                <a:cs typeface="Calibri" pitchFamily="34" charset="-120"/>
              </a:rPr>
              <a:t>serialiser masks here</a:t>
            </a:r>
            <a:endParaRPr lang="en-US" sz="1100" dirty="0"/>
          </a:p>
        </p:txBody>
      </p:sp>
      <p:sp>
        <p:nvSpPr>
          <p:cNvPr id="12" name="Text 10"/>
          <p:cNvSpPr/>
          <p:nvPr/>
        </p:nvSpPr>
        <p:spPr>
          <a:xfrm>
            <a:off x="3703320" y="3017520"/>
            <a:ext cx="1901952" cy="310896"/>
          </a:xfrm>
          <a:prstGeom prst="rect">
            <a:avLst/>
          </a:prstGeom>
          <a:noFill/>
          <a:ln/>
        </p:spPr>
        <p:txBody>
          <a:bodyPr wrap="square" lIns="0" tIns="0" rIns="0" bIns="0" rtlCol="0" anchor="ctr"/>
          <a:lstStyle/>
          <a:p>
            <a:pPr marL="0" indent="0">
              <a:buNone/>
            </a:pPr>
            <a:r>
              <a:rPr lang="en-US" sz="1200" dirty="0">
                <a:solidFill>
                  <a:srgbClr val="4ADE80"/>
                </a:solidFill>
                <a:latin typeface="Courier New" pitchFamily="34" charset="0"/>
                <a:ea typeface="Courier New" pitchFamily="34" charset="-122"/>
                <a:cs typeface="Courier New" pitchFamily="34" charset="-120"/>
              </a:rPr>
              <a:t>S****567D</a:t>
            </a:r>
            <a:endParaRPr lang="en-US" sz="1200" dirty="0"/>
          </a:p>
        </p:txBody>
      </p:sp>
      <p:sp>
        <p:nvSpPr>
          <p:cNvPr id="13" name="Shape 11"/>
          <p:cNvSpPr/>
          <p:nvPr/>
        </p:nvSpPr>
        <p:spPr>
          <a:xfrm>
            <a:off x="5788152" y="2807208"/>
            <a:ext cx="612648" cy="0"/>
          </a:xfrm>
          <a:prstGeom prst="line">
            <a:avLst/>
          </a:prstGeom>
          <a:noFill/>
          <a:ln w="19050">
            <a:solidFill>
              <a:srgbClr val="2B3140"/>
            </a:solidFill>
            <a:prstDash val="solid"/>
            <a:tailEnd type="triangle"/>
          </a:ln>
        </p:spPr>
        <p:txBody>
          <a:bodyPr/>
          <a:lstStyle/>
          <a:p>
            <a:endParaRPr lang="en-SG"/>
          </a:p>
        </p:txBody>
      </p:sp>
      <p:sp>
        <p:nvSpPr>
          <p:cNvPr id="14" name="Shape 12"/>
          <p:cNvSpPr/>
          <p:nvPr/>
        </p:nvSpPr>
        <p:spPr>
          <a:xfrm>
            <a:off x="6400800" y="1965960"/>
            <a:ext cx="2267712" cy="1691640"/>
          </a:xfrm>
          <a:prstGeom prst="roundRect">
            <a:avLst>
              <a:gd name="adj" fmla="val 4324"/>
            </a:avLst>
          </a:prstGeom>
          <a:solidFill>
            <a:srgbClr val="1A1E28"/>
          </a:solidFill>
          <a:ln w="12700">
            <a:solidFill>
              <a:srgbClr val="2B3140"/>
            </a:solidFill>
            <a:prstDash val="solid"/>
          </a:ln>
        </p:spPr>
        <p:txBody>
          <a:bodyPr/>
          <a:lstStyle/>
          <a:p>
            <a:endParaRPr lang="en-SG"/>
          </a:p>
        </p:txBody>
      </p:sp>
      <p:sp>
        <p:nvSpPr>
          <p:cNvPr id="15" name="Text 13"/>
          <p:cNvSpPr/>
          <p:nvPr/>
        </p:nvSpPr>
        <p:spPr>
          <a:xfrm>
            <a:off x="6583680" y="2176272"/>
            <a:ext cx="1901952" cy="310896"/>
          </a:xfrm>
          <a:prstGeom prst="rect">
            <a:avLst/>
          </a:prstGeom>
          <a:noFill/>
          <a:ln/>
        </p:spPr>
        <p:txBody>
          <a:bodyPr wrap="square" lIns="0" tIns="0" rIns="0" bIns="0" rtlCol="0" anchor="ctr"/>
          <a:lstStyle/>
          <a:p>
            <a:pPr marL="0" indent="0">
              <a:buNone/>
            </a:pPr>
            <a:r>
              <a:rPr lang="en-US" sz="1500" b="1" dirty="0">
                <a:solidFill>
                  <a:srgbClr val="E8EAF0"/>
                </a:solidFill>
                <a:latin typeface="Calibri" pitchFamily="34" charset="0"/>
                <a:ea typeface="Calibri" pitchFamily="34" charset="-122"/>
                <a:cs typeface="Calibri" pitchFamily="34" charset="-120"/>
              </a:rPr>
              <a:t>Gateway</a:t>
            </a:r>
            <a:endParaRPr lang="en-US" sz="1500" dirty="0"/>
          </a:p>
        </p:txBody>
      </p:sp>
      <p:sp>
        <p:nvSpPr>
          <p:cNvPr id="16" name="Text 14"/>
          <p:cNvSpPr/>
          <p:nvPr/>
        </p:nvSpPr>
        <p:spPr>
          <a:xfrm>
            <a:off x="6583680" y="2487168"/>
            <a:ext cx="1901952" cy="310896"/>
          </a:xfrm>
          <a:prstGeom prst="rect">
            <a:avLst/>
          </a:prstGeom>
          <a:noFill/>
          <a:ln/>
        </p:spPr>
        <p:txBody>
          <a:bodyPr wrap="square" lIns="0" tIns="0" rIns="0" bIns="0" rtlCol="0" anchor="ctr"/>
          <a:lstStyle/>
          <a:p>
            <a:pPr marL="0" indent="0">
              <a:buNone/>
            </a:pPr>
            <a:r>
              <a:rPr lang="en-US" sz="1100" dirty="0">
                <a:solidFill>
                  <a:srgbClr val="8B93A7"/>
                </a:solidFill>
                <a:latin typeface="Calibri" pitchFamily="34" charset="0"/>
                <a:ea typeface="Calibri" pitchFamily="34" charset="-122"/>
                <a:cs typeface="Calibri" pitchFamily="34" charset="-120"/>
              </a:rPr>
              <a:t>single origin</a:t>
            </a:r>
            <a:endParaRPr lang="en-US" sz="1100" dirty="0"/>
          </a:p>
        </p:txBody>
      </p:sp>
      <p:sp>
        <p:nvSpPr>
          <p:cNvPr id="17" name="Text 15"/>
          <p:cNvSpPr/>
          <p:nvPr/>
        </p:nvSpPr>
        <p:spPr>
          <a:xfrm>
            <a:off x="6583680" y="3017520"/>
            <a:ext cx="1901952" cy="310896"/>
          </a:xfrm>
          <a:prstGeom prst="rect">
            <a:avLst/>
          </a:prstGeom>
          <a:noFill/>
          <a:ln/>
        </p:spPr>
        <p:txBody>
          <a:bodyPr wrap="square" lIns="0" tIns="0" rIns="0" bIns="0" rtlCol="0" anchor="ctr"/>
          <a:lstStyle/>
          <a:p>
            <a:pPr marL="0" indent="0">
              <a:buNone/>
            </a:pPr>
            <a:r>
              <a:rPr lang="en-US" sz="1200" dirty="0">
                <a:solidFill>
                  <a:srgbClr val="4ADE80"/>
                </a:solidFill>
                <a:latin typeface="Courier New" pitchFamily="34" charset="0"/>
                <a:ea typeface="Courier New" pitchFamily="34" charset="-122"/>
                <a:cs typeface="Courier New" pitchFamily="34" charset="-120"/>
              </a:rPr>
              <a:t>S****567D</a:t>
            </a:r>
            <a:endParaRPr lang="en-US" sz="1200" dirty="0"/>
          </a:p>
        </p:txBody>
      </p:sp>
      <p:sp>
        <p:nvSpPr>
          <p:cNvPr id="18" name="Shape 16"/>
          <p:cNvSpPr/>
          <p:nvPr/>
        </p:nvSpPr>
        <p:spPr>
          <a:xfrm>
            <a:off x="8668512" y="2807208"/>
            <a:ext cx="612648" cy="0"/>
          </a:xfrm>
          <a:prstGeom prst="line">
            <a:avLst/>
          </a:prstGeom>
          <a:noFill/>
          <a:ln w="19050">
            <a:solidFill>
              <a:srgbClr val="2B3140"/>
            </a:solidFill>
            <a:prstDash val="solid"/>
            <a:tailEnd type="triangle"/>
          </a:ln>
        </p:spPr>
        <p:txBody>
          <a:bodyPr/>
          <a:lstStyle/>
          <a:p>
            <a:endParaRPr lang="en-SG"/>
          </a:p>
        </p:txBody>
      </p:sp>
      <p:sp>
        <p:nvSpPr>
          <p:cNvPr id="19" name="Shape 17"/>
          <p:cNvSpPr/>
          <p:nvPr/>
        </p:nvSpPr>
        <p:spPr>
          <a:xfrm>
            <a:off x="9281160" y="1965960"/>
            <a:ext cx="2267712" cy="1691640"/>
          </a:xfrm>
          <a:prstGeom prst="roundRect">
            <a:avLst>
              <a:gd name="adj" fmla="val 4324"/>
            </a:avLst>
          </a:prstGeom>
          <a:solidFill>
            <a:srgbClr val="1A1E28"/>
          </a:solidFill>
          <a:ln w="12700">
            <a:solidFill>
              <a:srgbClr val="2B3140"/>
            </a:solidFill>
            <a:prstDash val="solid"/>
          </a:ln>
        </p:spPr>
        <p:txBody>
          <a:bodyPr/>
          <a:lstStyle/>
          <a:p>
            <a:endParaRPr lang="en-SG"/>
          </a:p>
        </p:txBody>
      </p:sp>
      <p:sp>
        <p:nvSpPr>
          <p:cNvPr id="20" name="Text 18"/>
          <p:cNvSpPr/>
          <p:nvPr/>
        </p:nvSpPr>
        <p:spPr>
          <a:xfrm>
            <a:off x="9464040" y="2176272"/>
            <a:ext cx="1901952" cy="310896"/>
          </a:xfrm>
          <a:prstGeom prst="rect">
            <a:avLst/>
          </a:prstGeom>
          <a:noFill/>
          <a:ln/>
        </p:spPr>
        <p:txBody>
          <a:bodyPr wrap="square" lIns="0" tIns="0" rIns="0" bIns="0" rtlCol="0" anchor="ctr"/>
          <a:lstStyle/>
          <a:p>
            <a:pPr marL="0" indent="0">
              <a:buNone/>
            </a:pPr>
            <a:r>
              <a:rPr lang="en-US" sz="1500" b="1" dirty="0">
                <a:solidFill>
                  <a:srgbClr val="E8EAF0"/>
                </a:solidFill>
                <a:latin typeface="Calibri" pitchFamily="34" charset="0"/>
                <a:ea typeface="Calibri" pitchFamily="34" charset="-122"/>
                <a:cs typeface="Calibri" pitchFamily="34" charset="-120"/>
              </a:rPr>
              <a:t>Angular</a:t>
            </a:r>
            <a:endParaRPr lang="en-US" sz="1500" dirty="0"/>
          </a:p>
        </p:txBody>
      </p:sp>
      <p:sp>
        <p:nvSpPr>
          <p:cNvPr id="21" name="Text 19"/>
          <p:cNvSpPr/>
          <p:nvPr/>
        </p:nvSpPr>
        <p:spPr>
          <a:xfrm>
            <a:off x="9464040" y="2487168"/>
            <a:ext cx="1901952" cy="310896"/>
          </a:xfrm>
          <a:prstGeom prst="rect">
            <a:avLst/>
          </a:prstGeom>
          <a:noFill/>
          <a:ln/>
        </p:spPr>
        <p:txBody>
          <a:bodyPr wrap="square" lIns="0" tIns="0" rIns="0" bIns="0" rtlCol="0" anchor="ctr"/>
          <a:lstStyle/>
          <a:p>
            <a:pPr marL="0" indent="0">
              <a:buNone/>
            </a:pPr>
            <a:r>
              <a:rPr lang="en-US" sz="1100" dirty="0">
                <a:solidFill>
                  <a:srgbClr val="8B93A7"/>
                </a:solidFill>
                <a:latin typeface="Calibri" pitchFamily="34" charset="0"/>
                <a:ea typeface="Calibri" pitchFamily="34" charset="-122"/>
                <a:cs typeface="Calibri" pitchFamily="34" charset="-120"/>
              </a:rPr>
              <a:t>renders what it gets</a:t>
            </a:r>
            <a:endParaRPr lang="en-US" sz="1100" dirty="0"/>
          </a:p>
        </p:txBody>
      </p:sp>
      <p:sp>
        <p:nvSpPr>
          <p:cNvPr id="22" name="Text 20"/>
          <p:cNvSpPr/>
          <p:nvPr/>
        </p:nvSpPr>
        <p:spPr>
          <a:xfrm>
            <a:off x="9464040" y="3017520"/>
            <a:ext cx="1901952" cy="310896"/>
          </a:xfrm>
          <a:prstGeom prst="rect">
            <a:avLst/>
          </a:prstGeom>
          <a:noFill/>
          <a:ln/>
        </p:spPr>
        <p:txBody>
          <a:bodyPr wrap="square" lIns="0" tIns="0" rIns="0" bIns="0" rtlCol="0" anchor="ctr"/>
          <a:lstStyle/>
          <a:p>
            <a:pPr marL="0" indent="0">
              <a:buNone/>
            </a:pPr>
            <a:r>
              <a:rPr lang="en-US" sz="1200" dirty="0">
                <a:solidFill>
                  <a:srgbClr val="4ADE80"/>
                </a:solidFill>
                <a:latin typeface="Courier New" pitchFamily="34" charset="0"/>
                <a:ea typeface="Courier New" pitchFamily="34" charset="-122"/>
                <a:cs typeface="Courier New" pitchFamily="34" charset="-120"/>
              </a:rPr>
              <a:t>S****567D</a:t>
            </a:r>
            <a:endParaRPr lang="en-US" sz="1200" dirty="0"/>
          </a:p>
        </p:txBody>
      </p:sp>
      <p:sp>
        <p:nvSpPr>
          <p:cNvPr id="23" name="Text 21"/>
          <p:cNvSpPr/>
          <p:nvPr/>
        </p:nvSpPr>
        <p:spPr>
          <a:xfrm>
            <a:off x="640080" y="3794760"/>
            <a:ext cx="10908792" cy="274320"/>
          </a:xfrm>
          <a:prstGeom prst="rect">
            <a:avLst/>
          </a:prstGeom>
          <a:noFill/>
          <a:ln/>
        </p:spPr>
        <p:txBody>
          <a:bodyPr wrap="square" lIns="0" tIns="0" rIns="0" bIns="0" rtlCol="0" anchor="ctr"/>
          <a:lstStyle/>
          <a:p>
            <a:pPr marL="0" indent="0" algn="ctr">
              <a:buNone/>
            </a:pPr>
            <a:r>
              <a:rPr lang="en-US" sz="1100" dirty="0">
                <a:solidFill>
                  <a:srgbClr val="8B93A7"/>
                </a:solidFill>
                <a:latin typeface="Calibri" pitchFamily="34" charset="0"/>
                <a:ea typeface="Calibri" pitchFamily="34" charset="-122"/>
                <a:cs typeface="Calibri" pitchFamily="34" charset="-120"/>
              </a:rPr>
              <a:t>response payload flows this way</a:t>
            </a:r>
            <a:endParaRPr lang="en-US" sz="1100" dirty="0"/>
          </a:p>
        </p:txBody>
      </p:sp>
      <p:sp>
        <p:nvSpPr>
          <p:cNvPr id="24" name="Shape 22"/>
          <p:cNvSpPr/>
          <p:nvPr/>
        </p:nvSpPr>
        <p:spPr>
          <a:xfrm>
            <a:off x="640080" y="4434840"/>
            <a:ext cx="10908792" cy="1234440"/>
          </a:xfrm>
          <a:prstGeom prst="roundRect">
            <a:avLst>
              <a:gd name="adj" fmla="val 5926"/>
            </a:avLst>
          </a:prstGeom>
          <a:solidFill>
            <a:srgbClr val="1A1E28"/>
          </a:solidFill>
          <a:ln w="12700">
            <a:solidFill>
              <a:srgbClr val="2B3140"/>
            </a:solidFill>
            <a:prstDash val="solid"/>
          </a:ln>
        </p:spPr>
        <p:txBody>
          <a:bodyPr/>
          <a:lstStyle/>
          <a:p>
            <a:endParaRPr lang="en-SG"/>
          </a:p>
        </p:txBody>
      </p:sp>
      <p:sp>
        <p:nvSpPr>
          <p:cNvPr id="25" name="Text 23"/>
          <p:cNvSpPr/>
          <p:nvPr/>
        </p:nvSpPr>
        <p:spPr>
          <a:xfrm>
            <a:off x="914400" y="4663440"/>
            <a:ext cx="10332720" cy="822960"/>
          </a:xfrm>
          <a:prstGeom prst="rect">
            <a:avLst/>
          </a:prstGeom>
          <a:noFill/>
          <a:ln/>
        </p:spPr>
        <p:txBody>
          <a:bodyPr wrap="square" lIns="0" tIns="0" rIns="0" bIns="0" rtlCol="0" anchor="t"/>
          <a:lstStyle/>
          <a:p>
            <a:pPr marL="0" indent="0">
              <a:lnSpc>
                <a:spcPts val="2000"/>
              </a:lnSpc>
              <a:buNone/>
            </a:pPr>
            <a:r>
              <a:rPr lang="en-US" sz="1350" b="1" dirty="0">
                <a:solidFill>
                  <a:srgbClr val="E8EAF0"/>
                </a:solidFill>
                <a:latin typeface="Calibri" pitchFamily="34" charset="0"/>
                <a:ea typeface="Calibri" pitchFamily="34" charset="-122"/>
                <a:cs typeface="Calibri" pitchFamily="34" charset="-120"/>
              </a:rPr>
              <a:t>Why not mask earlier?  </a:t>
            </a:r>
            <a:r>
              <a:rPr lang="en-US" sz="1350" dirty="0">
                <a:solidFill>
                  <a:srgbClr val="8B93A7"/>
                </a:solidFill>
                <a:latin typeface="Calibri" pitchFamily="34" charset="0"/>
                <a:ea typeface="Calibri" pitchFamily="34" charset="-122"/>
                <a:cs typeface="Calibri" pitchFamily="34" charset="-120"/>
              </a:rPr>
              <a:t>The domain needs real values for lookups, joins, downstream calls and audit. Mask too early and you cannot match records. The boundary is the only place where "this is leaving our perimeter" is actually true.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411480"/>
            <a:ext cx="10908792" cy="54864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The entire developer-facing API</a:t>
            </a:r>
            <a:endParaRPr lang="en-US" sz="3400" dirty="0"/>
          </a:p>
        </p:txBody>
      </p:sp>
      <p:sp>
        <p:nvSpPr>
          <p:cNvPr id="3" name="Text 1"/>
          <p:cNvSpPr/>
          <p:nvPr/>
        </p:nvSpPr>
        <p:spPr>
          <a:xfrm>
            <a:off x="640080" y="987552"/>
            <a:ext cx="10908792" cy="329184"/>
          </a:xfrm>
          <a:prstGeom prst="rect">
            <a:avLst/>
          </a:prstGeom>
          <a:noFill/>
          <a:ln/>
        </p:spPr>
        <p:txBody>
          <a:bodyPr wrap="square" lIns="0" tIns="0" rIns="0" bIns="0" rtlCol="0" anchor="ctr"/>
          <a:lstStyle/>
          <a:p>
            <a:pPr marL="0" indent="0">
              <a:buNone/>
            </a:pPr>
            <a:r>
              <a:rPr lang="en-US" sz="1500" dirty="0">
                <a:solidFill>
                  <a:srgbClr val="8B93A7"/>
                </a:solidFill>
                <a:latin typeface="Calibri" pitchFamily="34" charset="0"/>
                <a:ea typeface="Calibri" pitchFamily="34" charset="-122"/>
                <a:cs typeface="Calibri" pitchFamily="34" charset="-120"/>
              </a:rPr>
              <a:t>One attribute. That is the whole contract.</a:t>
            </a:r>
            <a:endParaRPr lang="en-US" sz="1500" dirty="0"/>
          </a:p>
        </p:txBody>
      </p:sp>
      <p:sp>
        <p:nvSpPr>
          <p:cNvPr id="4" name="Shape 2"/>
          <p:cNvSpPr/>
          <p:nvPr/>
        </p:nvSpPr>
        <p:spPr>
          <a:xfrm>
            <a:off x="640080" y="1645920"/>
            <a:ext cx="5943600" cy="2926080"/>
          </a:xfrm>
          <a:prstGeom prst="roundRect">
            <a:avLst>
              <a:gd name="adj" fmla="val 2500"/>
            </a:avLst>
          </a:prstGeom>
          <a:solidFill>
            <a:srgbClr val="090B10"/>
          </a:solidFill>
          <a:ln w="12700">
            <a:solidFill>
              <a:srgbClr val="2B3140"/>
            </a:solidFill>
            <a:prstDash val="solid"/>
          </a:ln>
        </p:spPr>
        <p:txBody>
          <a:bodyPr/>
          <a:lstStyle/>
          <a:p>
            <a:endParaRPr lang="en-SG"/>
          </a:p>
        </p:txBody>
      </p:sp>
      <p:sp>
        <p:nvSpPr>
          <p:cNvPr id="5" name="Text 3"/>
          <p:cNvSpPr/>
          <p:nvPr/>
        </p:nvSpPr>
        <p:spPr>
          <a:xfrm>
            <a:off x="841248" y="1773936"/>
            <a:ext cx="5541264" cy="237744"/>
          </a:xfrm>
          <a:prstGeom prst="rect">
            <a:avLst/>
          </a:prstGeom>
          <a:noFill/>
          <a:ln/>
        </p:spPr>
        <p:txBody>
          <a:bodyPr wrap="square" lIns="0" tIns="0" rIns="0" bIns="0" rtlCol="0" anchor="ctr"/>
          <a:lstStyle/>
          <a:p>
            <a:pPr marL="0" indent="0">
              <a:buNone/>
            </a:pPr>
            <a:r>
              <a:rPr lang="en-US" sz="1000" b="1" kern="0" spc="100" dirty="0">
                <a:solidFill>
                  <a:srgbClr val="8B93A7"/>
                </a:solidFill>
                <a:latin typeface="Calibri" pitchFamily="34" charset="0"/>
                <a:ea typeface="Calibri" pitchFamily="34" charset="-122"/>
                <a:cs typeface="Calibri" pitchFamily="34" charset="-120"/>
              </a:rPr>
              <a:t>Dtos/MemberDto.cs</a:t>
            </a:r>
            <a:endParaRPr lang="en-US" sz="1000" dirty="0"/>
          </a:p>
        </p:txBody>
      </p:sp>
      <p:sp>
        <p:nvSpPr>
          <p:cNvPr id="6" name="Text 4"/>
          <p:cNvSpPr/>
          <p:nvPr/>
        </p:nvSpPr>
        <p:spPr>
          <a:xfrm>
            <a:off x="841248" y="2066544"/>
            <a:ext cx="5541264" cy="2304288"/>
          </a:xfrm>
          <a:prstGeom prst="rect">
            <a:avLst/>
          </a:prstGeom>
          <a:noFill/>
          <a:ln/>
        </p:spPr>
        <p:txBody>
          <a:bodyPr wrap="square" lIns="0" tIns="0" rIns="0" bIns="0" rtlCol="0" anchor="t"/>
          <a:lstStyle/>
          <a:p>
            <a:pPr marL="0" indent="0">
              <a:lnSpc>
                <a:spcPts val="1500"/>
              </a:lnSpc>
              <a:buNone/>
            </a:pPr>
            <a:r>
              <a:rPr lang="en-US" sz="1100" dirty="0">
                <a:solidFill>
                  <a:srgbClr val="E8EAF0"/>
                </a:solidFill>
                <a:latin typeface="Courier New" pitchFamily="34" charset="0"/>
                <a:ea typeface="Courier New" pitchFamily="34" charset="-122"/>
                <a:cs typeface="Courier New" pitchFamily="34" charset="-120"/>
              </a:rPr>
              <a:t>public sealed class MemberDto
{
</a:t>
            </a:r>
            <a:r>
              <a:rPr lang="en-US" sz="1100" dirty="0">
                <a:solidFill>
                  <a:srgbClr val="4F8CFF"/>
                </a:solidFill>
                <a:latin typeface="Courier New" pitchFamily="34" charset="0"/>
                <a:ea typeface="Courier New" pitchFamily="34" charset="-122"/>
                <a:cs typeface="Courier New" pitchFamily="34" charset="-120"/>
              </a:rPr>
              <a:t>    [Mask(MaskKind.Nric)]
</a:t>
            </a:r>
            <a:r>
              <a:rPr lang="en-US" sz="1100" dirty="0">
                <a:solidFill>
                  <a:srgbClr val="E8EAF0"/>
                </a:solidFill>
                <a:latin typeface="Courier New" pitchFamily="34" charset="0"/>
                <a:ea typeface="Courier New" pitchFamily="34" charset="-122"/>
                <a:cs typeface="Courier New" pitchFamily="34" charset="-120"/>
              </a:rPr>
              <a:t>    public string Nric { get; init; }
</a:t>
            </a:r>
            <a:r>
              <a:rPr lang="en-US" sz="1100" dirty="0">
                <a:solidFill>
                  <a:srgbClr val="4F8CFF"/>
                </a:solidFill>
                <a:latin typeface="Courier New" pitchFamily="34" charset="0"/>
                <a:ea typeface="Courier New" pitchFamily="34" charset="-122"/>
                <a:cs typeface="Courier New" pitchFamily="34" charset="-120"/>
              </a:rPr>
              <a:t>    [Mask(MaskKind.Account)]
</a:t>
            </a:r>
            <a:r>
              <a:rPr lang="en-US" sz="1100" dirty="0">
                <a:solidFill>
                  <a:srgbClr val="E8EAF0"/>
                </a:solidFill>
                <a:latin typeface="Courier New" pitchFamily="34" charset="0"/>
                <a:ea typeface="Courier New" pitchFamily="34" charset="-122"/>
                <a:cs typeface="Courier New" pitchFamily="34" charset="-120"/>
              </a:rPr>
              <a:t>    public string AccountNumber { get; init; }
    public string Name { get; init; }</a:t>
            </a:r>
            <a:endParaRPr lang="en-US" sz="1100" dirty="0"/>
          </a:p>
          <a:p>
            <a:pPr marL="0" indent="0">
              <a:lnSpc>
                <a:spcPts val="1500"/>
              </a:lnSpc>
              <a:buNone/>
            </a:pPr>
            <a:r>
              <a:rPr lang="en-US" sz="1100" dirty="0">
                <a:solidFill>
                  <a:srgbClr val="E8EAF0"/>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6858000" y="1645920"/>
            <a:ext cx="4663440" cy="27432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Add a masked field</a:t>
            </a:r>
            <a:endParaRPr lang="en-US" sz="1400" dirty="0"/>
          </a:p>
        </p:txBody>
      </p:sp>
      <p:sp>
        <p:nvSpPr>
          <p:cNvPr id="8" name="Text 6"/>
          <p:cNvSpPr/>
          <p:nvPr/>
        </p:nvSpPr>
        <p:spPr>
          <a:xfrm>
            <a:off x="6858000" y="1929384"/>
            <a:ext cx="4663440" cy="384048"/>
          </a:xfrm>
          <a:prstGeom prst="rect">
            <a:avLst/>
          </a:prstGeom>
          <a:noFill/>
          <a:ln/>
        </p:spPr>
        <p:txBody>
          <a:bodyPr wrap="square" lIns="0" tIns="0" rIns="0" bIns="0" rtlCol="0" anchor="ctr"/>
          <a:lstStyle/>
          <a:p>
            <a:pPr marL="0" indent="0">
              <a:buNone/>
            </a:pPr>
            <a:r>
              <a:rPr lang="en-US" sz="1250" dirty="0">
                <a:solidFill>
                  <a:srgbClr val="8B93A7"/>
                </a:solidFill>
                <a:latin typeface="Calibri" pitchFamily="34" charset="0"/>
                <a:ea typeface="Calibri" pitchFamily="34" charset="-122"/>
                <a:cs typeface="Calibri" pitchFamily="34" charset="-120"/>
              </a:rPr>
              <a:t>Add [Mask] to the property. Nothing else.</a:t>
            </a:r>
            <a:endParaRPr lang="en-US" sz="1250" dirty="0"/>
          </a:p>
        </p:txBody>
      </p:sp>
      <p:sp>
        <p:nvSpPr>
          <p:cNvPr id="9" name="Text 7"/>
          <p:cNvSpPr/>
          <p:nvPr/>
        </p:nvSpPr>
        <p:spPr>
          <a:xfrm>
            <a:off x="6858000" y="2423160"/>
            <a:ext cx="4663440" cy="27432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Add a mask format</a:t>
            </a:r>
            <a:endParaRPr lang="en-US" sz="1400" dirty="0"/>
          </a:p>
        </p:txBody>
      </p:sp>
      <p:sp>
        <p:nvSpPr>
          <p:cNvPr id="10" name="Text 8"/>
          <p:cNvSpPr/>
          <p:nvPr/>
        </p:nvSpPr>
        <p:spPr>
          <a:xfrm>
            <a:off x="6858000" y="2706624"/>
            <a:ext cx="4663440" cy="384048"/>
          </a:xfrm>
          <a:prstGeom prst="rect">
            <a:avLst/>
          </a:prstGeom>
          <a:noFill/>
          <a:ln/>
        </p:spPr>
        <p:txBody>
          <a:bodyPr wrap="square" lIns="0" tIns="0" rIns="0" bIns="0" rtlCol="0" anchor="ctr"/>
          <a:lstStyle/>
          <a:p>
            <a:pPr marL="0" indent="0">
              <a:buNone/>
            </a:pPr>
            <a:r>
              <a:rPr lang="en-US" sz="1250" dirty="0">
                <a:solidFill>
                  <a:srgbClr val="8B93A7"/>
                </a:solidFill>
                <a:latin typeface="Calibri" pitchFamily="34" charset="0"/>
                <a:ea typeface="Calibri" pitchFamily="34" charset="-122"/>
                <a:cs typeface="Calibri" pitchFamily="34" charset="-120"/>
              </a:rPr>
              <a:t>One MaskKind member + one branch in Mask.Apply.</a:t>
            </a:r>
            <a:endParaRPr lang="en-US" sz="1250" dirty="0"/>
          </a:p>
        </p:txBody>
      </p:sp>
      <p:sp>
        <p:nvSpPr>
          <p:cNvPr id="11" name="Text 9"/>
          <p:cNvSpPr/>
          <p:nvPr/>
        </p:nvSpPr>
        <p:spPr>
          <a:xfrm>
            <a:off x="6858000" y="3200400"/>
            <a:ext cx="4663440" cy="27432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Controllers</a:t>
            </a:r>
            <a:endParaRPr lang="en-US" sz="1400" dirty="0"/>
          </a:p>
        </p:txBody>
      </p:sp>
      <p:sp>
        <p:nvSpPr>
          <p:cNvPr id="12" name="Text 10"/>
          <p:cNvSpPr/>
          <p:nvPr/>
        </p:nvSpPr>
        <p:spPr>
          <a:xfrm>
            <a:off x="6858000" y="3483864"/>
            <a:ext cx="4663440" cy="384048"/>
          </a:xfrm>
          <a:prstGeom prst="rect">
            <a:avLst/>
          </a:prstGeom>
          <a:noFill/>
          <a:ln/>
        </p:spPr>
        <p:txBody>
          <a:bodyPr wrap="square" lIns="0" tIns="0" rIns="0" bIns="0" rtlCol="0" anchor="ctr"/>
          <a:lstStyle/>
          <a:p>
            <a:pPr marL="0" indent="0">
              <a:buNone/>
            </a:pPr>
            <a:r>
              <a:rPr lang="en-US" sz="1250" dirty="0">
                <a:solidFill>
                  <a:srgbClr val="8B93A7"/>
                </a:solidFill>
                <a:latin typeface="Calibri" pitchFamily="34" charset="0"/>
                <a:ea typeface="Calibri" pitchFamily="34" charset="-122"/>
                <a:cs typeface="Calibri" pitchFamily="34" charset="-120"/>
              </a:rPr>
              <a:t>Unchanged. They never see masking.</a:t>
            </a:r>
            <a:endParaRPr lang="en-US" sz="1250" dirty="0"/>
          </a:p>
        </p:txBody>
      </p:sp>
      <p:sp>
        <p:nvSpPr>
          <p:cNvPr id="13" name="Text 11"/>
          <p:cNvSpPr/>
          <p:nvPr/>
        </p:nvSpPr>
        <p:spPr>
          <a:xfrm>
            <a:off x="6858000" y="3977640"/>
            <a:ext cx="4663440" cy="27432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Angular</a:t>
            </a:r>
            <a:endParaRPr lang="en-US" sz="1400" dirty="0"/>
          </a:p>
        </p:txBody>
      </p:sp>
      <p:sp>
        <p:nvSpPr>
          <p:cNvPr id="14" name="Text 12"/>
          <p:cNvSpPr/>
          <p:nvPr/>
        </p:nvSpPr>
        <p:spPr>
          <a:xfrm>
            <a:off x="6858000" y="4261104"/>
            <a:ext cx="4663440" cy="384048"/>
          </a:xfrm>
          <a:prstGeom prst="rect">
            <a:avLst/>
          </a:prstGeom>
          <a:noFill/>
          <a:ln/>
        </p:spPr>
        <p:txBody>
          <a:bodyPr wrap="square" lIns="0" tIns="0" rIns="0" bIns="0" rtlCol="0" anchor="ctr"/>
          <a:lstStyle/>
          <a:p>
            <a:pPr marL="0" indent="0">
              <a:buNone/>
            </a:pPr>
            <a:r>
              <a:rPr lang="en-US" sz="1250" dirty="0">
                <a:solidFill>
                  <a:srgbClr val="8B93A7"/>
                </a:solidFill>
                <a:latin typeface="Calibri" pitchFamily="34" charset="0"/>
                <a:ea typeface="Calibri" pitchFamily="34" charset="-122"/>
                <a:cs typeface="Calibri" pitchFamily="34" charset="-120"/>
              </a:rPr>
              <a:t>Unchanged. It never knew the value was masked.</a:t>
            </a:r>
            <a:endParaRPr lang="en-US" sz="1250" dirty="0"/>
          </a:p>
        </p:txBody>
      </p:sp>
      <p:sp>
        <p:nvSpPr>
          <p:cNvPr id="15" name="Text 13"/>
          <p:cNvSpPr/>
          <p:nvPr/>
        </p:nvSpPr>
        <p:spPr>
          <a:xfrm>
            <a:off x="640080" y="4892040"/>
            <a:ext cx="5943600" cy="365760"/>
          </a:xfrm>
          <a:prstGeom prst="rect">
            <a:avLst/>
          </a:prstGeom>
          <a:noFill/>
          <a:ln/>
        </p:spPr>
        <p:txBody>
          <a:bodyPr wrap="square" lIns="0" tIns="0" rIns="0" bIns="0" rtlCol="0" anchor="ctr"/>
          <a:lstStyle/>
          <a:p>
            <a:pPr marL="0" indent="0">
              <a:buNone/>
            </a:pPr>
            <a:r>
              <a:rPr lang="en-US" sz="1300" dirty="0">
                <a:solidFill>
                  <a:srgbClr val="4ADE80"/>
                </a:solidFill>
                <a:latin typeface="Calibri" pitchFamily="34" charset="0"/>
                <a:ea typeface="Calibri" pitchFamily="34" charset="-122"/>
                <a:cs typeface="Calibri" pitchFamily="34" charset="-120"/>
              </a:rPr>
              <a:t>No controller, no DTO logic and no component knows masking exists.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411480"/>
            <a:ext cx="10908792" cy="54864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How the attribute gets picked up</a:t>
            </a:r>
            <a:endParaRPr lang="en-US" sz="3400" dirty="0"/>
          </a:p>
        </p:txBody>
      </p:sp>
      <p:sp>
        <p:nvSpPr>
          <p:cNvPr id="3" name="Text 1"/>
          <p:cNvSpPr/>
          <p:nvPr/>
        </p:nvSpPr>
        <p:spPr>
          <a:xfrm>
            <a:off x="640080" y="987552"/>
            <a:ext cx="10908792" cy="329184"/>
          </a:xfrm>
          <a:prstGeom prst="rect">
            <a:avLst/>
          </a:prstGeom>
          <a:noFill/>
          <a:ln/>
        </p:spPr>
        <p:txBody>
          <a:bodyPr wrap="square" lIns="0" tIns="0" rIns="0" bIns="0" rtlCol="0" anchor="ctr"/>
          <a:lstStyle/>
          <a:p>
            <a:pPr marL="0" indent="0">
              <a:buNone/>
            </a:pPr>
            <a:r>
              <a:rPr lang="en-US" sz="1500" dirty="0">
                <a:solidFill>
                  <a:srgbClr val="8B93A7"/>
                </a:solidFill>
                <a:latin typeface="Calibri" pitchFamily="34" charset="0"/>
                <a:ea typeface="Calibri" pitchFamily="34" charset="-122"/>
                <a:cs typeface="Calibri" pitchFamily="34" charset="-120"/>
              </a:rPr>
              <a:t>A contract-metadata modifier, run once per type at startup</a:t>
            </a:r>
            <a:endParaRPr lang="en-US" sz="1500" dirty="0"/>
          </a:p>
        </p:txBody>
      </p:sp>
      <p:sp>
        <p:nvSpPr>
          <p:cNvPr id="4" name="Shape 2"/>
          <p:cNvSpPr/>
          <p:nvPr/>
        </p:nvSpPr>
        <p:spPr>
          <a:xfrm>
            <a:off x="640080" y="1600200"/>
            <a:ext cx="10908792" cy="2880360"/>
          </a:xfrm>
          <a:prstGeom prst="roundRect">
            <a:avLst>
              <a:gd name="adj" fmla="val 2540"/>
            </a:avLst>
          </a:prstGeom>
          <a:solidFill>
            <a:srgbClr val="090B10"/>
          </a:solidFill>
          <a:ln w="12700">
            <a:solidFill>
              <a:srgbClr val="2B3140"/>
            </a:solidFill>
            <a:prstDash val="solid"/>
          </a:ln>
        </p:spPr>
        <p:txBody>
          <a:bodyPr/>
          <a:lstStyle/>
          <a:p>
            <a:endParaRPr lang="en-SG"/>
          </a:p>
        </p:txBody>
      </p:sp>
      <p:sp>
        <p:nvSpPr>
          <p:cNvPr id="5" name="Text 3"/>
          <p:cNvSpPr/>
          <p:nvPr/>
        </p:nvSpPr>
        <p:spPr>
          <a:xfrm>
            <a:off x="841248" y="1728216"/>
            <a:ext cx="10506456" cy="237744"/>
          </a:xfrm>
          <a:prstGeom prst="rect">
            <a:avLst/>
          </a:prstGeom>
          <a:noFill/>
          <a:ln/>
        </p:spPr>
        <p:txBody>
          <a:bodyPr wrap="square" lIns="0" tIns="0" rIns="0" bIns="0" rtlCol="0" anchor="ctr"/>
          <a:lstStyle/>
          <a:p>
            <a:pPr marL="0" indent="0">
              <a:buNone/>
            </a:pPr>
            <a:r>
              <a:rPr lang="en-US" sz="1000" b="1" kern="0" spc="100" dirty="0">
                <a:solidFill>
                  <a:srgbClr val="8B93A7"/>
                </a:solidFill>
                <a:latin typeface="Calibri" pitchFamily="34" charset="0"/>
                <a:ea typeface="Calibri" pitchFamily="34" charset="-122"/>
                <a:cs typeface="Calibri" pitchFamily="34" charset="-120"/>
              </a:rPr>
              <a:t>Masking/MaskingModifier.cs</a:t>
            </a:r>
            <a:endParaRPr lang="en-US" sz="1000" dirty="0"/>
          </a:p>
        </p:txBody>
      </p:sp>
      <p:sp>
        <p:nvSpPr>
          <p:cNvPr id="6" name="Text 4"/>
          <p:cNvSpPr/>
          <p:nvPr/>
        </p:nvSpPr>
        <p:spPr>
          <a:xfrm>
            <a:off x="841248" y="2020824"/>
            <a:ext cx="10506456" cy="2258568"/>
          </a:xfrm>
          <a:prstGeom prst="rect">
            <a:avLst/>
          </a:prstGeom>
          <a:noFill/>
          <a:ln/>
        </p:spPr>
        <p:txBody>
          <a:bodyPr wrap="square" lIns="0" tIns="0" rIns="0" bIns="0" rtlCol="0" anchor="t"/>
          <a:lstStyle/>
          <a:p>
            <a:pPr marL="0" indent="0">
              <a:lnSpc>
                <a:spcPts val="1600"/>
              </a:lnSpc>
              <a:buNone/>
            </a:pPr>
            <a:r>
              <a:rPr lang="en-US" sz="1100" dirty="0">
                <a:solidFill>
                  <a:srgbClr val="E8EAF0"/>
                </a:solidFill>
                <a:latin typeface="Courier New" pitchFamily="34" charset="0"/>
                <a:ea typeface="Courier New" pitchFamily="34" charset="-122"/>
                <a:cs typeface="Courier New" pitchFamily="34" charset="-120"/>
              </a:rPr>
              <a:t>public static Action&lt;JsonTypeInfo&gt; Create(IHttpContextAccessor accessor) =&gt; typeInfo =&gt;
{
    foreach (var property in typeInfo.Properties)
    {
        var attribute = property.AttributeProvider?
</a:t>
            </a:r>
            <a:r>
              <a:rPr lang="en-US" sz="1100" dirty="0">
                <a:solidFill>
                  <a:srgbClr val="4F8CFF"/>
                </a:solidFill>
                <a:latin typeface="Courier New" pitchFamily="34" charset="0"/>
                <a:ea typeface="Courier New" pitchFamily="34" charset="-122"/>
                <a:cs typeface="Courier New" pitchFamily="34" charset="-120"/>
              </a:rPr>
              <a:t>            .GetCustomAttributes(typeof(MaskAttribute), inherit: true)
            .Cast&lt;MaskAttribute&gt;().FirstOrDefault();
</a:t>
            </a:r>
            <a:r>
              <a:rPr lang="en-US" sz="1100" dirty="0">
                <a:solidFill>
                  <a:srgbClr val="E8EAF0"/>
                </a:solidFill>
                <a:latin typeface="Courier New" pitchFamily="34" charset="0"/>
                <a:ea typeface="Courier New" pitchFamily="34" charset="-122"/>
                <a:cs typeface="Courier New" pitchFamily="34" charset="-120"/>
              </a:rPr>
              <a:t>        if (attribute is null) continue;
</a:t>
            </a:r>
            <a:r>
              <a:rPr lang="en-US" sz="1100" dirty="0">
                <a:solidFill>
                  <a:srgbClr val="4ADE80"/>
                </a:solidFill>
                <a:latin typeface="Courier New" pitchFamily="34" charset="0"/>
                <a:ea typeface="Courier New" pitchFamily="34" charset="-122"/>
                <a:cs typeface="Courier New" pitchFamily="34" charset="-120"/>
              </a:rPr>
              <a:t>        property.CustomConverter = new MaskingConverter(attribute.Kind, accessor);
</a:t>
            </a:r>
            <a:r>
              <a:rPr lang="en-US" sz="1100" dirty="0">
                <a:solidFill>
                  <a:srgbClr val="E8EAF0"/>
                </a:solidFill>
                <a:latin typeface="Courier New" pitchFamily="34" charset="0"/>
                <a:ea typeface="Courier New" pitchFamily="34" charset="-122"/>
                <a:cs typeface="Courier New" pitchFamily="34" charset="-120"/>
              </a:rPr>
              <a:t>    }</a:t>
            </a:r>
            <a:endParaRPr lang="en-US" sz="1100" dirty="0"/>
          </a:p>
          <a:p>
            <a:pPr marL="0" indent="0">
              <a:lnSpc>
                <a:spcPts val="1600"/>
              </a:lnSpc>
              <a:buNone/>
            </a:pPr>
            <a:r>
              <a:rPr lang="en-US" sz="1100" dirty="0">
                <a:solidFill>
                  <a:srgbClr val="E8EAF0"/>
                </a:solidFill>
                <a:latin typeface="Courier New" pitchFamily="34" charset="0"/>
                <a:ea typeface="Courier New" pitchFamily="34" charset="-122"/>
                <a:cs typeface="Courier New" pitchFamily="34" charset="-120"/>
              </a:rPr>
              <a:t>};</a:t>
            </a:r>
            <a:endParaRPr lang="en-US" sz="1100" dirty="0"/>
          </a:p>
        </p:txBody>
      </p:sp>
      <p:sp>
        <p:nvSpPr>
          <p:cNvPr id="7" name="Shape 5"/>
          <p:cNvSpPr/>
          <p:nvPr/>
        </p:nvSpPr>
        <p:spPr>
          <a:xfrm>
            <a:off x="640080" y="4709160"/>
            <a:ext cx="3474720" cy="1143000"/>
          </a:xfrm>
          <a:prstGeom prst="roundRect">
            <a:avLst>
              <a:gd name="adj" fmla="val 6400"/>
            </a:avLst>
          </a:prstGeom>
          <a:solidFill>
            <a:srgbClr val="1A1E28"/>
          </a:solidFill>
          <a:ln w="12700">
            <a:solidFill>
              <a:srgbClr val="2B3140"/>
            </a:solidFill>
            <a:prstDash val="solid"/>
          </a:ln>
        </p:spPr>
        <p:txBody>
          <a:bodyPr/>
          <a:lstStyle/>
          <a:p>
            <a:endParaRPr lang="en-SG"/>
          </a:p>
        </p:txBody>
      </p:sp>
      <p:sp>
        <p:nvSpPr>
          <p:cNvPr id="8" name="Text 6"/>
          <p:cNvSpPr/>
          <p:nvPr/>
        </p:nvSpPr>
        <p:spPr>
          <a:xfrm>
            <a:off x="868680" y="4892040"/>
            <a:ext cx="3017520" cy="274320"/>
          </a:xfrm>
          <a:prstGeom prst="rect">
            <a:avLst/>
          </a:prstGeom>
          <a:noFill/>
          <a:ln/>
        </p:spPr>
        <p:txBody>
          <a:bodyPr wrap="square" lIns="0" tIns="0" rIns="0" bIns="0" rtlCol="0" anchor="ctr"/>
          <a:lstStyle/>
          <a:p>
            <a:pPr marL="0" indent="0">
              <a:buNone/>
            </a:pPr>
            <a:r>
              <a:rPr lang="en-US" sz="1350" b="1" dirty="0">
                <a:solidFill>
                  <a:srgbClr val="4F8CFF"/>
                </a:solidFill>
                <a:latin typeface="Calibri" pitchFamily="34" charset="0"/>
                <a:ea typeface="Calibri" pitchFamily="34" charset="-122"/>
                <a:cs typeface="Calibri" pitchFamily="34" charset="-120"/>
              </a:rPr>
              <a:t>Runs once</a:t>
            </a:r>
            <a:endParaRPr lang="en-US" sz="1350" dirty="0"/>
          </a:p>
        </p:txBody>
      </p:sp>
      <p:sp>
        <p:nvSpPr>
          <p:cNvPr id="9" name="Text 7"/>
          <p:cNvSpPr/>
          <p:nvPr/>
        </p:nvSpPr>
        <p:spPr>
          <a:xfrm>
            <a:off x="868680" y="5193792"/>
            <a:ext cx="3017520" cy="548640"/>
          </a:xfrm>
          <a:prstGeom prst="rect">
            <a:avLst/>
          </a:prstGeom>
          <a:noFill/>
          <a:ln/>
        </p:spPr>
        <p:txBody>
          <a:bodyPr wrap="square" lIns="0" tIns="0" rIns="0" bIns="0" rtlCol="0" anchor="t"/>
          <a:lstStyle/>
          <a:p>
            <a:pPr marL="0" indent="0">
              <a:lnSpc>
                <a:spcPts val="1500"/>
              </a:lnSpc>
              <a:buNone/>
            </a:pPr>
            <a:r>
              <a:rPr lang="en-US" sz="1150" dirty="0">
                <a:solidFill>
                  <a:srgbClr val="8B93A7"/>
                </a:solidFill>
                <a:latin typeface="Calibri" pitchFamily="34" charset="0"/>
                <a:ea typeface="Calibri" pitchFamily="34" charset="-122"/>
                <a:cs typeface="Calibri" pitchFamily="34" charset="-120"/>
              </a:rPr>
              <a:t>Contracts are cached per type — no per-request reflection cost.</a:t>
            </a:r>
            <a:endParaRPr lang="en-US" sz="1150" dirty="0"/>
          </a:p>
        </p:txBody>
      </p:sp>
      <p:sp>
        <p:nvSpPr>
          <p:cNvPr id="10" name="Shape 8"/>
          <p:cNvSpPr/>
          <p:nvPr/>
        </p:nvSpPr>
        <p:spPr>
          <a:xfrm>
            <a:off x="4352544" y="4709160"/>
            <a:ext cx="3474720" cy="1143000"/>
          </a:xfrm>
          <a:prstGeom prst="roundRect">
            <a:avLst>
              <a:gd name="adj" fmla="val 6400"/>
            </a:avLst>
          </a:prstGeom>
          <a:solidFill>
            <a:srgbClr val="1A1E28"/>
          </a:solidFill>
          <a:ln w="12700">
            <a:solidFill>
              <a:srgbClr val="2B3140"/>
            </a:solidFill>
            <a:prstDash val="solid"/>
          </a:ln>
        </p:spPr>
        <p:txBody>
          <a:bodyPr/>
          <a:lstStyle/>
          <a:p>
            <a:endParaRPr lang="en-SG"/>
          </a:p>
        </p:txBody>
      </p:sp>
      <p:sp>
        <p:nvSpPr>
          <p:cNvPr id="11" name="Text 9"/>
          <p:cNvSpPr/>
          <p:nvPr/>
        </p:nvSpPr>
        <p:spPr>
          <a:xfrm>
            <a:off x="4581144" y="4892040"/>
            <a:ext cx="3017520" cy="274320"/>
          </a:xfrm>
          <a:prstGeom prst="rect">
            <a:avLst/>
          </a:prstGeom>
          <a:noFill/>
          <a:ln/>
        </p:spPr>
        <p:txBody>
          <a:bodyPr wrap="square" lIns="0" tIns="0" rIns="0" bIns="0" rtlCol="0" anchor="ctr"/>
          <a:lstStyle/>
          <a:p>
            <a:pPr marL="0" indent="0">
              <a:buNone/>
            </a:pPr>
            <a:r>
              <a:rPr lang="en-US" sz="1350" b="1" dirty="0">
                <a:solidFill>
                  <a:srgbClr val="4F8CFF"/>
                </a:solidFill>
                <a:latin typeface="Calibri" pitchFamily="34" charset="0"/>
                <a:ea typeface="Calibri" pitchFamily="34" charset="-122"/>
                <a:cs typeface="Calibri" pitchFamily="34" charset="-120"/>
              </a:rPr>
              <a:t>Strings only</a:t>
            </a:r>
            <a:endParaRPr lang="en-US" sz="1350" dirty="0"/>
          </a:p>
        </p:txBody>
      </p:sp>
      <p:sp>
        <p:nvSpPr>
          <p:cNvPr id="12" name="Text 10"/>
          <p:cNvSpPr/>
          <p:nvPr/>
        </p:nvSpPr>
        <p:spPr>
          <a:xfrm>
            <a:off x="4581144" y="5193792"/>
            <a:ext cx="3017520" cy="548640"/>
          </a:xfrm>
          <a:prstGeom prst="rect">
            <a:avLst/>
          </a:prstGeom>
          <a:noFill/>
          <a:ln/>
        </p:spPr>
        <p:txBody>
          <a:bodyPr wrap="square" lIns="0" tIns="0" rIns="0" bIns="0" rtlCol="0" anchor="t"/>
          <a:lstStyle/>
          <a:p>
            <a:pPr marL="0" indent="0">
              <a:lnSpc>
                <a:spcPts val="1500"/>
              </a:lnSpc>
              <a:buNone/>
            </a:pPr>
            <a:r>
              <a:rPr lang="en-US" sz="1150" dirty="0">
                <a:solidFill>
                  <a:srgbClr val="8B93A7"/>
                </a:solidFill>
                <a:latin typeface="Calibri" pitchFamily="34" charset="0"/>
                <a:ea typeface="Calibri" pitchFamily="34" charset="-122"/>
                <a:cs typeface="Calibri" pitchFamily="34" charset="-120"/>
              </a:rPr>
              <a:t>A masked DateOnly or decimal needs its own JsonConverter&lt;T&gt;.</a:t>
            </a:r>
            <a:endParaRPr lang="en-US" sz="1150" dirty="0"/>
          </a:p>
        </p:txBody>
      </p:sp>
      <p:sp>
        <p:nvSpPr>
          <p:cNvPr id="13" name="Shape 11"/>
          <p:cNvSpPr/>
          <p:nvPr/>
        </p:nvSpPr>
        <p:spPr>
          <a:xfrm>
            <a:off x="8065008" y="4709160"/>
            <a:ext cx="3474720" cy="1143000"/>
          </a:xfrm>
          <a:prstGeom prst="roundRect">
            <a:avLst>
              <a:gd name="adj" fmla="val 6400"/>
            </a:avLst>
          </a:prstGeom>
          <a:solidFill>
            <a:srgbClr val="1A1E28"/>
          </a:solidFill>
          <a:ln w="12700">
            <a:solidFill>
              <a:srgbClr val="2B3140"/>
            </a:solidFill>
            <a:prstDash val="solid"/>
          </a:ln>
        </p:spPr>
        <p:txBody>
          <a:bodyPr/>
          <a:lstStyle/>
          <a:p>
            <a:endParaRPr lang="en-SG"/>
          </a:p>
        </p:txBody>
      </p:sp>
      <p:sp>
        <p:nvSpPr>
          <p:cNvPr id="14" name="Text 12"/>
          <p:cNvSpPr/>
          <p:nvPr/>
        </p:nvSpPr>
        <p:spPr>
          <a:xfrm>
            <a:off x="8293608" y="4892040"/>
            <a:ext cx="3017520" cy="274320"/>
          </a:xfrm>
          <a:prstGeom prst="rect">
            <a:avLst/>
          </a:prstGeom>
          <a:noFill/>
          <a:ln/>
        </p:spPr>
        <p:txBody>
          <a:bodyPr wrap="square" lIns="0" tIns="0" rIns="0" bIns="0" rtlCol="0" anchor="ctr"/>
          <a:lstStyle/>
          <a:p>
            <a:pPr marL="0" indent="0">
              <a:buNone/>
            </a:pPr>
            <a:r>
              <a:rPr lang="en-US" sz="1350" b="1" dirty="0">
                <a:solidFill>
                  <a:srgbClr val="4F8CFF"/>
                </a:solidFill>
                <a:latin typeface="Calibri" pitchFamily="34" charset="0"/>
                <a:ea typeface="Calibri" pitchFamily="34" charset="-122"/>
                <a:cs typeface="Calibri" pitchFamily="34" charset="-120"/>
              </a:rPr>
              <a:t>Registered in one place</a:t>
            </a:r>
            <a:endParaRPr lang="en-US" sz="1350" dirty="0"/>
          </a:p>
        </p:txBody>
      </p:sp>
      <p:sp>
        <p:nvSpPr>
          <p:cNvPr id="15" name="Text 13"/>
          <p:cNvSpPr/>
          <p:nvPr/>
        </p:nvSpPr>
        <p:spPr>
          <a:xfrm>
            <a:off x="8293608" y="5193792"/>
            <a:ext cx="3017520" cy="548640"/>
          </a:xfrm>
          <a:prstGeom prst="rect">
            <a:avLst/>
          </a:prstGeom>
          <a:noFill/>
          <a:ln/>
        </p:spPr>
        <p:txBody>
          <a:bodyPr wrap="square" lIns="0" tIns="0" rIns="0" bIns="0" rtlCol="0" anchor="t"/>
          <a:lstStyle/>
          <a:p>
            <a:pPr marL="0" indent="0">
              <a:lnSpc>
                <a:spcPts val="1500"/>
              </a:lnSpc>
              <a:buNone/>
            </a:pPr>
            <a:r>
              <a:rPr lang="en-US" sz="1150" dirty="0">
                <a:solidFill>
                  <a:srgbClr val="8B93A7"/>
                </a:solidFill>
                <a:latin typeface="Calibri" pitchFamily="34" charset="0"/>
                <a:ea typeface="Calibri" pitchFamily="34" charset="-122"/>
                <a:cs typeface="Calibri" pitchFamily="34" charset="-120"/>
              </a:rPr>
              <a:t>services.AddFieldMasking() — see MaskingExtensions.cs.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411480"/>
            <a:ext cx="10908792" cy="54864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The trap: round-tripping a DTO</a:t>
            </a:r>
            <a:endParaRPr lang="en-US" sz="3400" dirty="0"/>
          </a:p>
        </p:txBody>
      </p:sp>
      <p:sp>
        <p:nvSpPr>
          <p:cNvPr id="3" name="Text 1"/>
          <p:cNvSpPr/>
          <p:nvPr/>
        </p:nvSpPr>
        <p:spPr>
          <a:xfrm>
            <a:off x="640080" y="987552"/>
            <a:ext cx="10908792" cy="329184"/>
          </a:xfrm>
          <a:prstGeom prst="rect">
            <a:avLst/>
          </a:prstGeom>
          <a:noFill/>
          <a:ln/>
        </p:spPr>
        <p:txBody>
          <a:bodyPr wrap="square" lIns="0" tIns="0" rIns="0" bIns="0" rtlCol="0" anchor="ctr"/>
          <a:lstStyle/>
          <a:p>
            <a:pPr marL="0" indent="0">
              <a:buNone/>
            </a:pPr>
            <a:r>
              <a:rPr lang="en-US" sz="1500" dirty="0">
                <a:solidFill>
                  <a:srgbClr val="8B93A7"/>
                </a:solidFill>
                <a:latin typeface="Calibri" pitchFamily="34" charset="0"/>
                <a:ea typeface="Calibri" pitchFamily="34" charset="-122"/>
                <a:cs typeface="Calibri" pitchFamily="34" charset="-120"/>
              </a:rPr>
              <a:t>This is how field masking corrupts production data</a:t>
            </a:r>
            <a:endParaRPr lang="en-US" sz="1500" dirty="0"/>
          </a:p>
        </p:txBody>
      </p:sp>
      <p:sp>
        <p:nvSpPr>
          <p:cNvPr id="4" name="Shape 2"/>
          <p:cNvSpPr/>
          <p:nvPr/>
        </p:nvSpPr>
        <p:spPr>
          <a:xfrm>
            <a:off x="640080" y="1645920"/>
            <a:ext cx="5349240" cy="2286000"/>
          </a:xfrm>
          <a:prstGeom prst="roundRect">
            <a:avLst>
              <a:gd name="adj" fmla="val 3200"/>
            </a:avLst>
          </a:prstGeom>
          <a:solidFill>
            <a:srgbClr val="090B10"/>
          </a:solidFill>
          <a:ln w="12700">
            <a:solidFill>
              <a:srgbClr val="2B3140"/>
            </a:solidFill>
            <a:prstDash val="solid"/>
          </a:ln>
        </p:spPr>
        <p:txBody>
          <a:bodyPr/>
          <a:lstStyle/>
          <a:p>
            <a:endParaRPr lang="en-SG"/>
          </a:p>
        </p:txBody>
      </p:sp>
      <p:sp>
        <p:nvSpPr>
          <p:cNvPr id="5" name="Text 3"/>
          <p:cNvSpPr/>
          <p:nvPr/>
        </p:nvSpPr>
        <p:spPr>
          <a:xfrm>
            <a:off x="841248" y="1773936"/>
            <a:ext cx="4946904" cy="237744"/>
          </a:xfrm>
          <a:prstGeom prst="rect">
            <a:avLst/>
          </a:prstGeom>
          <a:noFill/>
          <a:ln/>
        </p:spPr>
        <p:txBody>
          <a:bodyPr wrap="square" lIns="0" tIns="0" rIns="0" bIns="0" rtlCol="0" anchor="ctr"/>
          <a:lstStyle/>
          <a:p>
            <a:pPr marL="0" indent="0">
              <a:buNone/>
            </a:pPr>
            <a:r>
              <a:rPr lang="en-US" sz="1000" b="1" kern="0" spc="100" dirty="0">
                <a:solidFill>
                  <a:srgbClr val="FF6B6B"/>
                </a:solidFill>
                <a:latin typeface="Calibri" pitchFamily="34" charset="0"/>
                <a:ea typeface="Calibri" pitchFamily="34" charset="-122"/>
                <a:cs typeface="Calibri" pitchFamily="34" charset="-120"/>
              </a:rPr>
              <a:t>WHAT THE CLIENT SENDS BACK</a:t>
            </a:r>
            <a:endParaRPr lang="en-US" sz="1000" dirty="0"/>
          </a:p>
        </p:txBody>
      </p:sp>
      <p:sp>
        <p:nvSpPr>
          <p:cNvPr id="6" name="Text 4"/>
          <p:cNvSpPr/>
          <p:nvPr/>
        </p:nvSpPr>
        <p:spPr>
          <a:xfrm>
            <a:off x="841248" y="2066544"/>
            <a:ext cx="4946904" cy="1664208"/>
          </a:xfrm>
          <a:prstGeom prst="rect">
            <a:avLst/>
          </a:prstGeom>
          <a:noFill/>
          <a:ln/>
        </p:spPr>
        <p:txBody>
          <a:bodyPr wrap="square" lIns="0" tIns="0" rIns="0" bIns="0" rtlCol="0" anchor="t"/>
          <a:lstStyle/>
          <a:p>
            <a:pPr marL="0" indent="0">
              <a:lnSpc>
                <a:spcPts val="1500"/>
              </a:lnSpc>
              <a:buNone/>
            </a:pPr>
            <a:r>
              <a:rPr lang="en-US" sz="1100" dirty="0">
                <a:solidFill>
                  <a:srgbClr val="8B93A7"/>
                </a:solidFill>
                <a:latin typeface="Courier New" pitchFamily="34" charset="0"/>
                <a:ea typeface="Courier New" pitchFamily="34" charset="-122"/>
                <a:cs typeface="Courier New" pitchFamily="34" charset="-120"/>
              </a:rPr>
              <a:t>PUT /api/v1/members/me/profile
</a:t>
            </a:r>
            <a:r>
              <a:rPr lang="en-US" sz="1100" dirty="0">
                <a:solidFill>
                  <a:srgbClr val="E8EAF0"/>
                </a:solidFill>
                <a:latin typeface="Courier New" pitchFamily="34" charset="0"/>
                <a:ea typeface="Courier New" pitchFamily="34" charset="-122"/>
                <a:cs typeface="Courier New" pitchFamily="34" charset="-120"/>
              </a:rPr>
              <a:t>{</a:t>
            </a:r>
            <a:endParaRPr lang="en-US" sz="1100" dirty="0"/>
          </a:p>
          <a:p>
            <a:pPr marL="0" indent="0">
              <a:lnSpc>
                <a:spcPts val="1500"/>
              </a:lnSpc>
              <a:buNone/>
            </a:pPr>
            <a:r>
              <a:rPr lang="en-US" sz="1100" dirty="0">
                <a:solidFill>
                  <a:srgbClr val="E8EAF0"/>
                </a:solidFill>
                <a:latin typeface="Courier New" pitchFamily="34" charset="0"/>
                <a:ea typeface="Courier New" pitchFamily="34" charset="-122"/>
                <a:cs typeface="Courier New" pitchFamily="34" charset="-120"/>
              </a:rPr>
              <a:t>  "nric": </a:t>
            </a:r>
            <a:r>
              <a:rPr lang="en-US" sz="1100" dirty="0">
                <a:solidFill>
                  <a:srgbClr val="FF6B6B"/>
                </a:solidFill>
                <a:latin typeface="Courier New" pitchFamily="34" charset="0"/>
                <a:ea typeface="Courier New" pitchFamily="34" charset="-122"/>
                <a:cs typeface="Courier New" pitchFamily="34" charset="-120"/>
              </a:rPr>
              <a:t>"S****567D"</a:t>
            </a:r>
            <a:r>
              <a:rPr lang="en-US" sz="1100" dirty="0">
                <a:solidFill>
                  <a:srgbClr val="E8EAF0"/>
                </a:solidFill>
                <a:latin typeface="Courier New" pitchFamily="34" charset="0"/>
                <a:ea typeface="Courier New" pitchFamily="34" charset="-122"/>
                <a:cs typeface="Courier New" pitchFamily="34" charset="-120"/>
              </a:rPr>
              <a:t>,</a:t>
            </a:r>
            <a:endParaRPr lang="en-US" sz="1100" dirty="0"/>
          </a:p>
          <a:p>
            <a:pPr marL="0" indent="0">
              <a:lnSpc>
                <a:spcPts val="1500"/>
              </a:lnSpc>
              <a:buNone/>
            </a:pPr>
            <a:r>
              <a:rPr lang="en-US" sz="1100" dirty="0">
                <a:solidFill>
                  <a:srgbClr val="E8EAF0"/>
                </a:solidFill>
                <a:latin typeface="Courier New" pitchFamily="34" charset="0"/>
                <a:ea typeface="Courier New" pitchFamily="34" charset="-122"/>
                <a:cs typeface="Courier New" pitchFamily="34" charset="-120"/>
              </a:rPr>
              <a:t>  "email": "new@example.com"</a:t>
            </a:r>
            <a:endParaRPr lang="en-US" sz="1100" dirty="0"/>
          </a:p>
          <a:p>
            <a:pPr marL="0" indent="0">
              <a:lnSpc>
                <a:spcPts val="1500"/>
              </a:lnSpc>
              <a:buNone/>
            </a:pPr>
            <a:r>
              <a:rPr lang="en-US" sz="1100" dirty="0">
                <a:solidFill>
                  <a:srgbClr val="E8EAF0"/>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640080" y="4069080"/>
            <a:ext cx="5349240" cy="365760"/>
          </a:xfrm>
          <a:prstGeom prst="rect">
            <a:avLst/>
          </a:prstGeom>
          <a:noFill/>
          <a:ln/>
        </p:spPr>
        <p:txBody>
          <a:bodyPr wrap="square" lIns="0" tIns="0" rIns="0" bIns="0" rtlCol="0" anchor="ctr"/>
          <a:lstStyle/>
          <a:p>
            <a:pPr marL="0" indent="0">
              <a:buNone/>
            </a:pPr>
            <a:r>
              <a:rPr lang="en-US" sz="1350" b="1" dirty="0">
                <a:solidFill>
                  <a:srgbClr val="FF6B6B"/>
                </a:solidFill>
                <a:latin typeface="Calibri" pitchFamily="34" charset="0"/>
                <a:ea typeface="Calibri" pitchFamily="34" charset="-122"/>
                <a:cs typeface="Calibri" pitchFamily="34" charset="-120"/>
              </a:rPr>
              <a:t>Without a guard, that writes asterisks over a real NRIC.</a:t>
            </a:r>
            <a:endParaRPr lang="en-US" sz="1350" dirty="0"/>
          </a:p>
        </p:txBody>
      </p:sp>
      <p:sp>
        <p:nvSpPr>
          <p:cNvPr id="8" name="Shape 6"/>
          <p:cNvSpPr/>
          <p:nvPr/>
        </p:nvSpPr>
        <p:spPr>
          <a:xfrm>
            <a:off x="640080" y="4617720"/>
            <a:ext cx="5349240" cy="1234440"/>
          </a:xfrm>
          <a:prstGeom prst="roundRect">
            <a:avLst>
              <a:gd name="adj" fmla="val 5926"/>
            </a:avLst>
          </a:prstGeom>
          <a:solidFill>
            <a:srgbClr val="1A1E28"/>
          </a:solidFill>
          <a:ln w="12700">
            <a:solidFill>
              <a:srgbClr val="2B3140"/>
            </a:solidFill>
            <a:prstDash val="solid"/>
          </a:ln>
        </p:spPr>
        <p:txBody>
          <a:bodyPr/>
          <a:lstStyle/>
          <a:p>
            <a:endParaRPr lang="en-SG"/>
          </a:p>
        </p:txBody>
      </p:sp>
      <p:sp>
        <p:nvSpPr>
          <p:cNvPr id="9" name="Text 7"/>
          <p:cNvSpPr/>
          <p:nvPr/>
        </p:nvSpPr>
        <p:spPr>
          <a:xfrm>
            <a:off x="914400" y="4800600"/>
            <a:ext cx="4800600" cy="274320"/>
          </a:xfrm>
          <a:prstGeom prst="rect">
            <a:avLst/>
          </a:prstGeom>
          <a:noFill/>
          <a:ln/>
        </p:spPr>
        <p:txBody>
          <a:bodyPr wrap="square" lIns="0" tIns="0" rIns="0" bIns="0" rtlCol="0" anchor="ctr"/>
          <a:lstStyle/>
          <a:p>
            <a:pPr marL="0" indent="0">
              <a:buNone/>
            </a:pPr>
            <a:r>
              <a:rPr lang="en-US" sz="1300" b="1" dirty="0">
                <a:solidFill>
                  <a:srgbClr val="E8EAF0"/>
                </a:solidFill>
                <a:latin typeface="Calibri" pitchFamily="34" charset="0"/>
                <a:ea typeface="Calibri" pitchFamily="34" charset="-122"/>
                <a:cs typeface="Calibri" pitchFamily="34" charset="-120"/>
              </a:rPr>
              <a:t>Why it is easy to miss</a:t>
            </a:r>
            <a:endParaRPr lang="en-US" sz="1300" dirty="0"/>
          </a:p>
        </p:txBody>
      </p:sp>
      <p:sp>
        <p:nvSpPr>
          <p:cNvPr id="10" name="Text 8"/>
          <p:cNvSpPr/>
          <p:nvPr/>
        </p:nvSpPr>
        <p:spPr>
          <a:xfrm>
            <a:off x="914400" y="5102352"/>
            <a:ext cx="4800600" cy="685800"/>
          </a:xfrm>
          <a:prstGeom prst="rect">
            <a:avLst/>
          </a:prstGeom>
          <a:noFill/>
          <a:ln/>
        </p:spPr>
        <p:txBody>
          <a:bodyPr wrap="square" lIns="0" tIns="0" rIns="0" bIns="0" rtlCol="0" anchor="t"/>
          <a:lstStyle/>
          <a:p>
            <a:pPr marL="0" indent="0">
              <a:lnSpc>
                <a:spcPts val="1500"/>
              </a:lnSpc>
              <a:buNone/>
            </a:pPr>
            <a:r>
              <a:rPr lang="en-US" sz="1150" dirty="0">
                <a:solidFill>
                  <a:srgbClr val="8B93A7"/>
                </a:solidFill>
                <a:latin typeface="Calibri" pitchFamily="34" charset="0"/>
                <a:ea typeface="Calibri" pitchFamily="34" charset="-122"/>
                <a:cs typeface="Calibri" pitchFamily="34" charset="-120"/>
              </a:rPr>
              <a:t>Nothing fails. The PUT returns 200, the UI re-renders the masked value it just sent, and the record looks correct on screen until someone tries to match it downstream.</a:t>
            </a:r>
            <a:endParaRPr lang="en-US" sz="1150" dirty="0"/>
          </a:p>
        </p:txBody>
      </p:sp>
      <p:sp>
        <p:nvSpPr>
          <p:cNvPr id="11" name="Shape 9"/>
          <p:cNvSpPr/>
          <p:nvPr/>
        </p:nvSpPr>
        <p:spPr>
          <a:xfrm>
            <a:off x="6355080" y="1645920"/>
            <a:ext cx="5193792" cy="1207008"/>
          </a:xfrm>
          <a:prstGeom prst="roundRect">
            <a:avLst>
              <a:gd name="adj" fmla="val 6061"/>
            </a:avLst>
          </a:prstGeom>
          <a:solidFill>
            <a:srgbClr val="1A1E28"/>
          </a:solidFill>
          <a:ln w="12700">
            <a:solidFill>
              <a:srgbClr val="2B3140"/>
            </a:solidFill>
            <a:prstDash val="solid"/>
          </a:ln>
        </p:spPr>
        <p:txBody>
          <a:bodyPr/>
          <a:lstStyle/>
          <a:p>
            <a:endParaRPr lang="en-SG"/>
          </a:p>
        </p:txBody>
      </p:sp>
      <p:sp>
        <p:nvSpPr>
          <p:cNvPr id="12" name="Shape 10"/>
          <p:cNvSpPr/>
          <p:nvPr/>
        </p:nvSpPr>
        <p:spPr>
          <a:xfrm>
            <a:off x="6583680" y="1865376"/>
            <a:ext cx="310896" cy="310896"/>
          </a:xfrm>
          <a:prstGeom prst="ellipse">
            <a:avLst/>
          </a:prstGeom>
          <a:solidFill>
            <a:srgbClr val="4F8CFF"/>
          </a:solidFill>
          <a:ln w="12700">
            <a:solidFill>
              <a:srgbClr val="4F8CFF"/>
            </a:solidFill>
            <a:prstDash val="solid"/>
          </a:ln>
        </p:spPr>
        <p:txBody>
          <a:bodyPr/>
          <a:lstStyle/>
          <a:p>
            <a:endParaRPr lang="en-SG"/>
          </a:p>
        </p:txBody>
      </p:sp>
      <p:sp>
        <p:nvSpPr>
          <p:cNvPr id="13" name="Text 11"/>
          <p:cNvSpPr/>
          <p:nvPr/>
        </p:nvSpPr>
        <p:spPr>
          <a:xfrm>
            <a:off x="6583680" y="1883664"/>
            <a:ext cx="310896" cy="274320"/>
          </a:xfrm>
          <a:prstGeom prst="rect">
            <a:avLst/>
          </a:prstGeom>
          <a:noFill/>
          <a:ln/>
        </p:spPr>
        <p:txBody>
          <a:bodyPr wrap="square" lIns="0" tIns="0" rIns="0" bIns="0" rtlCol="0" anchor="ctr"/>
          <a:lstStyle/>
          <a:p>
            <a:pPr marL="0" indent="0" algn="ctr">
              <a:buNone/>
            </a:pPr>
            <a:r>
              <a:rPr lang="en-US" sz="1300" b="1" dirty="0">
                <a:solidFill>
                  <a:srgbClr val="0F1117"/>
                </a:solidFill>
                <a:latin typeface="Calibri" pitchFamily="34" charset="0"/>
                <a:ea typeface="Calibri" pitchFamily="34" charset="-122"/>
                <a:cs typeface="Calibri" pitchFamily="34" charset="-120"/>
              </a:rPr>
              <a:t>1</a:t>
            </a:r>
            <a:endParaRPr lang="en-US" sz="1300" dirty="0"/>
          </a:p>
        </p:txBody>
      </p:sp>
      <p:sp>
        <p:nvSpPr>
          <p:cNvPr id="14" name="Text 12"/>
          <p:cNvSpPr/>
          <p:nvPr/>
        </p:nvSpPr>
        <p:spPr>
          <a:xfrm>
            <a:off x="7022592" y="1847088"/>
            <a:ext cx="4297680" cy="292608"/>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Separate request DTOs</a:t>
            </a:r>
            <a:endParaRPr lang="en-US" sz="1400" dirty="0"/>
          </a:p>
        </p:txBody>
      </p:sp>
      <p:sp>
        <p:nvSpPr>
          <p:cNvPr id="15" name="Text 13"/>
          <p:cNvSpPr/>
          <p:nvPr/>
        </p:nvSpPr>
        <p:spPr>
          <a:xfrm>
            <a:off x="7022592" y="2157984"/>
            <a:ext cx="4297680" cy="566928"/>
          </a:xfrm>
          <a:prstGeom prst="rect">
            <a:avLst/>
          </a:prstGeom>
          <a:noFill/>
          <a:ln/>
        </p:spPr>
        <p:txBody>
          <a:bodyPr wrap="square" lIns="0" tIns="0" rIns="0" bIns="0" rtlCol="0" anchor="t"/>
          <a:lstStyle/>
          <a:p>
            <a:pPr marL="0" indent="0">
              <a:lnSpc>
                <a:spcPts val="1500"/>
              </a:lnSpc>
              <a:buNone/>
            </a:pPr>
            <a:r>
              <a:rPr lang="en-US" sz="1150" dirty="0">
                <a:solidFill>
                  <a:srgbClr val="8B93A7"/>
                </a:solidFill>
                <a:latin typeface="Calibri" pitchFamily="34" charset="0"/>
                <a:ea typeface="Calibri" pitchFamily="34" charset="-122"/>
                <a:cs typeface="Calibri" pitchFamily="34" charset="-120"/>
              </a:rPr>
              <a:t>UpdateProfileRequest has no Nric property at all. Primary defence.</a:t>
            </a:r>
            <a:endParaRPr lang="en-US" sz="1150" dirty="0"/>
          </a:p>
        </p:txBody>
      </p:sp>
      <p:sp>
        <p:nvSpPr>
          <p:cNvPr id="16" name="Shape 14"/>
          <p:cNvSpPr/>
          <p:nvPr/>
        </p:nvSpPr>
        <p:spPr>
          <a:xfrm>
            <a:off x="6355080" y="3063240"/>
            <a:ext cx="5193792" cy="1207008"/>
          </a:xfrm>
          <a:prstGeom prst="roundRect">
            <a:avLst>
              <a:gd name="adj" fmla="val 6061"/>
            </a:avLst>
          </a:prstGeom>
          <a:solidFill>
            <a:srgbClr val="1A1E28"/>
          </a:solidFill>
          <a:ln w="12700">
            <a:solidFill>
              <a:srgbClr val="2B3140"/>
            </a:solidFill>
            <a:prstDash val="solid"/>
          </a:ln>
        </p:spPr>
        <p:txBody>
          <a:bodyPr/>
          <a:lstStyle/>
          <a:p>
            <a:endParaRPr lang="en-SG"/>
          </a:p>
        </p:txBody>
      </p:sp>
      <p:sp>
        <p:nvSpPr>
          <p:cNvPr id="17" name="Shape 15"/>
          <p:cNvSpPr/>
          <p:nvPr/>
        </p:nvSpPr>
        <p:spPr>
          <a:xfrm>
            <a:off x="6583680" y="3282696"/>
            <a:ext cx="310896" cy="310896"/>
          </a:xfrm>
          <a:prstGeom prst="ellipse">
            <a:avLst/>
          </a:prstGeom>
          <a:solidFill>
            <a:srgbClr val="4F8CFF"/>
          </a:solidFill>
          <a:ln w="12700">
            <a:solidFill>
              <a:srgbClr val="4F8CFF"/>
            </a:solidFill>
            <a:prstDash val="solid"/>
          </a:ln>
        </p:spPr>
        <p:txBody>
          <a:bodyPr/>
          <a:lstStyle/>
          <a:p>
            <a:endParaRPr lang="en-SG"/>
          </a:p>
        </p:txBody>
      </p:sp>
      <p:sp>
        <p:nvSpPr>
          <p:cNvPr id="18" name="Text 16"/>
          <p:cNvSpPr/>
          <p:nvPr/>
        </p:nvSpPr>
        <p:spPr>
          <a:xfrm>
            <a:off x="6583680" y="3300984"/>
            <a:ext cx="310896" cy="274320"/>
          </a:xfrm>
          <a:prstGeom prst="rect">
            <a:avLst/>
          </a:prstGeom>
          <a:noFill/>
          <a:ln/>
        </p:spPr>
        <p:txBody>
          <a:bodyPr wrap="square" lIns="0" tIns="0" rIns="0" bIns="0" rtlCol="0" anchor="ctr"/>
          <a:lstStyle/>
          <a:p>
            <a:pPr marL="0" indent="0" algn="ctr">
              <a:buNone/>
            </a:pPr>
            <a:r>
              <a:rPr lang="en-US" sz="1300" b="1" dirty="0">
                <a:solidFill>
                  <a:srgbClr val="0F1117"/>
                </a:solidFill>
                <a:latin typeface="Calibri" pitchFamily="34" charset="0"/>
                <a:ea typeface="Calibri" pitchFamily="34" charset="-122"/>
                <a:cs typeface="Calibri" pitchFamily="34" charset="-120"/>
              </a:rPr>
              <a:t>2</a:t>
            </a:r>
            <a:endParaRPr lang="en-US" sz="1300" dirty="0"/>
          </a:p>
        </p:txBody>
      </p:sp>
      <p:sp>
        <p:nvSpPr>
          <p:cNvPr id="19" name="Text 17"/>
          <p:cNvSpPr/>
          <p:nvPr/>
        </p:nvSpPr>
        <p:spPr>
          <a:xfrm>
            <a:off x="7022592" y="3264408"/>
            <a:ext cx="4297680" cy="292608"/>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Identity from the token</a:t>
            </a:r>
            <a:endParaRPr lang="en-US" sz="1400" dirty="0"/>
          </a:p>
        </p:txBody>
      </p:sp>
      <p:sp>
        <p:nvSpPr>
          <p:cNvPr id="20" name="Text 18"/>
          <p:cNvSpPr/>
          <p:nvPr/>
        </p:nvSpPr>
        <p:spPr>
          <a:xfrm>
            <a:off x="7022592" y="3575304"/>
            <a:ext cx="4297680" cy="566928"/>
          </a:xfrm>
          <a:prstGeom prst="rect">
            <a:avLst/>
          </a:prstGeom>
          <a:noFill/>
          <a:ln/>
        </p:spPr>
        <p:txBody>
          <a:bodyPr wrap="square" lIns="0" tIns="0" rIns="0" bIns="0" rtlCol="0" anchor="t"/>
          <a:lstStyle/>
          <a:p>
            <a:pPr marL="0" indent="0">
              <a:lnSpc>
                <a:spcPts val="1500"/>
              </a:lnSpc>
              <a:buNone/>
            </a:pPr>
            <a:r>
              <a:rPr lang="en-US" sz="1150" dirty="0">
                <a:solidFill>
                  <a:srgbClr val="8B93A7"/>
                </a:solidFill>
                <a:latin typeface="Calibri" pitchFamily="34" charset="0"/>
                <a:ea typeface="Calibri" pitchFamily="34" charset="-122"/>
                <a:cs typeface="Calibri" pitchFamily="34" charset="-120"/>
              </a:rPr>
              <a:t>Member ID comes from the JWT sub claim — never the body, route or query string.</a:t>
            </a:r>
            <a:endParaRPr lang="en-US" sz="1150" dirty="0"/>
          </a:p>
        </p:txBody>
      </p:sp>
      <p:sp>
        <p:nvSpPr>
          <p:cNvPr id="21" name="Shape 19"/>
          <p:cNvSpPr/>
          <p:nvPr/>
        </p:nvSpPr>
        <p:spPr>
          <a:xfrm>
            <a:off x="6355080" y="4480560"/>
            <a:ext cx="5193792" cy="1207008"/>
          </a:xfrm>
          <a:prstGeom prst="roundRect">
            <a:avLst>
              <a:gd name="adj" fmla="val 6061"/>
            </a:avLst>
          </a:prstGeom>
          <a:solidFill>
            <a:srgbClr val="1A1E28"/>
          </a:solidFill>
          <a:ln w="12700">
            <a:solidFill>
              <a:srgbClr val="2B3140"/>
            </a:solidFill>
            <a:prstDash val="solid"/>
          </a:ln>
        </p:spPr>
        <p:txBody>
          <a:bodyPr/>
          <a:lstStyle/>
          <a:p>
            <a:endParaRPr lang="en-SG"/>
          </a:p>
        </p:txBody>
      </p:sp>
      <p:sp>
        <p:nvSpPr>
          <p:cNvPr id="22" name="Shape 20"/>
          <p:cNvSpPr/>
          <p:nvPr/>
        </p:nvSpPr>
        <p:spPr>
          <a:xfrm>
            <a:off x="6583680" y="4700016"/>
            <a:ext cx="310896" cy="310896"/>
          </a:xfrm>
          <a:prstGeom prst="ellipse">
            <a:avLst/>
          </a:prstGeom>
          <a:solidFill>
            <a:srgbClr val="4F8CFF"/>
          </a:solidFill>
          <a:ln w="12700">
            <a:solidFill>
              <a:srgbClr val="4F8CFF"/>
            </a:solidFill>
            <a:prstDash val="solid"/>
          </a:ln>
        </p:spPr>
        <p:txBody>
          <a:bodyPr/>
          <a:lstStyle/>
          <a:p>
            <a:endParaRPr lang="en-SG"/>
          </a:p>
        </p:txBody>
      </p:sp>
      <p:sp>
        <p:nvSpPr>
          <p:cNvPr id="23" name="Text 21"/>
          <p:cNvSpPr/>
          <p:nvPr/>
        </p:nvSpPr>
        <p:spPr>
          <a:xfrm>
            <a:off x="6583680" y="4718304"/>
            <a:ext cx="310896" cy="274320"/>
          </a:xfrm>
          <a:prstGeom prst="rect">
            <a:avLst/>
          </a:prstGeom>
          <a:noFill/>
          <a:ln/>
        </p:spPr>
        <p:txBody>
          <a:bodyPr wrap="square" lIns="0" tIns="0" rIns="0" bIns="0" rtlCol="0" anchor="ctr"/>
          <a:lstStyle/>
          <a:p>
            <a:pPr marL="0" indent="0" algn="ctr">
              <a:buNone/>
            </a:pPr>
            <a:r>
              <a:rPr lang="en-US" sz="1300" b="1" dirty="0">
                <a:solidFill>
                  <a:srgbClr val="0F1117"/>
                </a:solidFill>
                <a:latin typeface="Calibri" pitchFamily="34" charset="0"/>
                <a:ea typeface="Calibri" pitchFamily="34" charset="-122"/>
                <a:cs typeface="Calibri" pitchFamily="34" charset="-120"/>
              </a:rPr>
              <a:t>3</a:t>
            </a:r>
            <a:endParaRPr lang="en-US" sz="1300" dirty="0"/>
          </a:p>
        </p:txBody>
      </p:sp>
      <p:sp>
        <p:nvSpPr>
          <p:cNvPr id="24" name="Text 22"/>
          <p:cNvSpPr/>
          <p:nvPr/>
        </p:nvSpPr>
        <p:spPr>
          <a:xfrm>
            <a:off x="7022592" y="4681728"/>
            <a:ext cx="4297680" cy="292608"/>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RejectMaskedValuesFilter</a:t>
            </a:r>
            <a:endParaRPr lang="en-US" sz="1400" dirty="0"/>
          </a:p>
        </p:txBody>
      </p:sp>
      <p:sp>
        <p:nvSpPr>
          <p:cNvPr id="25" name="Text 23"/>
          <p:cNvSpPr/>
          <p:nvPr/>
        </p:nvSpPr>
        <p:spPr>
          <a:xfrm>
            <a:off x="7022592" y="4992624"/>
            <a:ext cx="4297680" cy="566928"/>
          </a:xfrm>
          <a:prstGeom prst="rect">
            <a:avLst/>
          </a:prstGeom>
          <a:noFill/>
          <a:ln/>
        </p:spPr>
        <p:txBody>
          <a:bodyPr wrap="square" lIns="0" tIns="0" rIns="0" bIns="0" rtlCol="0" anchor="t"/>
          <a:lstStyle/>
          <a:p>
            <a:pPr marL="0" indent="0">
              <a:lnSpc>
                <a:spcPts val="1500"/>
              </a:lnSpc>
              <a:buNone/>
            </a:pPr>
            <a:r>
              <a:rPr lang="en-US" sz="1150" dirty="0">
                <a:solidFill>
                  <a:srgbClr val="8B93A7"/>
                </a:solidFill>
                <a:latin typeface="Calibri" pitchFamily="34" charset="0"/>
                <a:ea typeface="Calibri" pitchFamily="34" charset="-122"/>
                <a:cs typeface="Calibri" pitchFamily="34" charset="-120"/>
              </a:rPr>
              <a:t>Any inbound payload containing * is rejected with 400. Safety net, not the plan.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411480"/>
            <a:ext cx="10908792" cy="54864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Three paths that bypass the serialiser</a:t>
            </a:r>
            <a:endParaRPr lang="en-US" sz="3400" dirty="0"/>
          </a:p>
        </p:txBody>
      </p:sp>
      <p:sp>
        <p:nvSpPr>
          <p:cNvPr id="3" name="Text 1"/>
          <p:cNvSpPr/>
          <p:nvPr/>
        </p:nvSpPr>
        <p:spPr>
          <a:xfrm>
            <a:off x="640080" y="987552"/>
            <a:ext cx="10908792" cy="329184"/>
          </a:xfrm>
          <a:prstGeom prst="rect">
            <a:avLst/>
          </a:prstGeom>
          <a:noFill/>
          <a:ln/>
        </p:spPr>
        <p:txBody>
          <a:bodyPr wrap="square" lIns="0" tIns="0" rIns="0" bIns="0" rtlCol="0" anchor="ctr"/>
          <a:lstStyle/>
          <a:p>
            <a:pPr marL="0" indent="0">
              <a:buNone/>
            </a:pPr>
            <a:r>
              <a:rPr lang="en-US" sz="1500" dirty="0">
                <a:solidFill>
                  <a:srgbClr val="8B93A7"/>
                </a:solidFill>
                <a:latin typeface="Calibri" pitchFamily="34" charset="0"/>
                <a:ea typeface="Calibri" pitchFamily="34" charset="-122"/>
                <a:cs typeface="Calibri" pitchFamily="34" charset="-120"/>
              </a:rPr>
              <a:t>Masking the JSON is not the same as masking the data</a:t>
            </a:r>
            <a:endParaRPr lang="en-US" sz="1500" dirty="0"/>
          </a:p>
        </p:txBody>
      </p:sp>
      <p:sp>
        <p:nvSpPr>
          <p:cNvPr id="4" name="Shape 2"/>
          <p:cNvSpPr/>
          <p:nvPr/>
        </p:nvSpPr>
        <p:spPr>
          <a:xfrm>
            <a:off x="640080" y="1691640"/>
            <a:ext cx="3474720" cy="3886200"/>
          </a:xfrm>
          <a:prstGeom prst="roundRect">
            <a:avLst>
              <a:gd name="adj" fmla="val 2105"/>
            </a:avLst>
          </a:prstGeom>
          <a:solidFill>
            <a:srgbClr val="1A1E28"/>
          </a:solidFill>
          <a:ln w="12700">
            <a:solidFill>
              <a:srgbClr val="2B3140"/>
            </a:solidFill>
            <a:prstDash val="solid"/>
          </a:ln>
        </p:spPr>
        <p:txBody>
          <a:bodyPr/>
          <a:lstStyle/>
          <a:p>
            <a:endParaRPr lang="en-SG"/>
          </a:p>
        </p:txBody>
      </p:sp>
      <p:sp>
        <p:nvSpPr>
          <p:cNvPr id="5" name="Shape 3"/>
          <p:cNvSpPr/>
          <p:nvPr/>
        </p:nvSpPr>
        <p:spPr>
          <a:xfrm>
            <a:off x="914400" y="1965960"/>
            <a:ext cx="402336" cy="402336"/>
          </a:xfrm>
          <a:prstGeom prst="ellipse">
            <a:avLst/>
          </a:prstGeom>
          <a:solidFill>
            <a:srgbClr val="FBBF24"/>
          </a:solidFill>
          <a:ln w="12700">
            <a:solidFill>
              <a:srgbClr val="FBBF24"/>
            </a:solidFill>
            <a:prstDash val="solid"/>
          </a:ln>
        </p:spPr>
        <p:txBody>
          <a:bodyPr/>
          <a:lstStyle/>
          <a:p>
            <a:endParaRPr lang="en-SG"/>
          </a:p>
        </p:txBody>
      </p:sp>
      <p:sp>
        <p:nvSpPr>
          <p:cNvPr id="6" name="Text 4"/>
          <p:cNvSpPr/>
          <p:nvPr/>
        </p:nvSpPr>
        <p:spPr>
          <a:xfrm>
            <a:off x="914400" y="1965960"/>
            <a:ext cx="402336" cy="402336"/>
          </a:xfrm>
          <a:prstGeom prst="rect">
            <a:avLst/>
          </a:prstGeom>
          <a:noFill/>
          <a:ln/>
        </p:spPr>
        <p:txBody>
          <a:bodyPr wrap="square" lIns="0" tIns="0" rIns="0" bIns="0" rtlCol="0" anchor="ctr"/>
          <a:lstStyle/>
          <a:p>
            <a:pPr marL="0" indent="0" algn="ctr">
              <a:buNone/>
            </a:pPr>
            <a:r>
              <a:rPr lang="en-US" sz="1500" b="1" dirty="0">
                <a:solidFill>
                  <a:srgbClr val="0F1117"/>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914400" y="2514600"/>
            <a:ext cx="2926080" cy="329184"/>
          </a:xfrm>
          <a:prstGeom prst="rect">
            <a:avLst/>
          </a:prstGeom>
          <a:noFill/>
          <a:ln/>
        </p:spPr>
        <p:txBody>
          <a:bodyPr wrap="square" lIns="0" tIns="0" rIns="0" bIns="0" rtlCol="0" anchor="ctr"/>
          <a:lstStyle/>
          <a:p>
            <a:pPr marL="0" indent="0">
              <a:buNone/>
            </a:pPr>
            <a:r>
              <a:rPr lang="en-US" sz="1700" b="1" dirty="0">
                <a:solidFill>
                  <a:srgbClr val="E8EAF0"/>
                </a:solidFill>
                <a:latin typeface="Calibri" pitchFamily="34" charset="0"/>
                <a:ea typeface="Calibri" pitchFamily="34" charset="-122"/>
                <a:cs typeface="Calibri" pitchFamily="34" charset="-120"/>
              </a:rPr>
              <a:t>Log sinks</a:t>
            </a:r>
            <a:endParaRPr lang="en-US" sz="1700" dirty="0"/>
          </a:p>
        </p:txBody>
      </p:sp>
      <p:sp>
        <p:nvSpPr>
          <p:cNvPr id="8" name="Text 6"/>
          <p:cNvSpPr/>
          <p:nvPr/>
        </p:nvSpPr>
        <p:spPr>
          <a:xfrm>
            <a:off x="914400" y="2926080"/>
            <a:ext cx="2926080" cy="1463040"/>
          </a:xfrm>
          <a:prstGeom prst="rect">
            <a:avLst/>
          </a:prstGeom>
          <a:noFill/>
          <a:ln/>
        </p:spPr>
        <p:txBody>
          <a:bodyPr wrap="square" lIns="0" tIns="0" rIns="0" bIns="0" rtlCol="0" anchor="t"/>
          <a:lstStyle/>
          <a:p>
            <a:pPr marL="0" indent="0">
              <a:lnSpc>
                <a:spcPts val="1800"/>
              </a:lnSpc>
              <a:buNone/>
            </a:pPr>
            <a:r>
              <a:rPr lang="en-US" sz="1250" dirty="0">
                <a:solidFill>
                  <a:srgbClr val="8B93A7"/>
                </a:solidFill>
                <a:latin typeface="Calibri" pitchFamily="34" charset="0"/>
                <a:ea typeface="Calibri" pitchFamily="34" charset="-122"/>
                <a:cs typeface="Calibri" pitchFamily="34" charset="-120"/>
              </a:rPr>
              <a:t>ILogger and Serilog write from entities. Logs are retained longer than payloads, so an unmasked NRIC here is the same disclosure, kept for longer.</a:t>
            </a:r>
            <a:endParaRPr lang="en-US" sz="1250" dirty="0"/>
          </a:p>
        </p:txBody>
      </p:sp>
      <p:sp>
        <p:nvSpPr>
          <p:cNvPr id="9" name="Text 7"/>
          <p:cNvSpPr/>
          <p:nvPr/>
        </p:nvSpPr>
        <p:spPr>
          <a:xfrm>
            <a:off x="914400" y="4526280"/>
            <a:ext cx="2926080" cy="868680"/>
          </a:xfrm>
          <a:prstGeom prst="rect">
            <a:avLst/>
          </a:prstGeom>
          <a:noFill/>
          <a:ln/>
        </p:spPr>
        <p:txBody>
          <a:bodyPr wrap="square" lIns="0" tIns="0" rIns="0" bIns="0" rtlCol="0" anchor="t"/>
          <a:lstStyle/>
          <a:p>
            <a:pPr marL="0" indent="0">
              <a:lnSpc>
                <a:spcPts val="1700"/>
              </a:lnSpc>
              <a:buNone/>
            </a:pPr>
            <a:r>
              <a:rPr lang="en-US" sz="1200" dirty="0">
                <a:solidFill>
                  <a:srgbClr val="4ADE80"/>
                </a:solidFill>
                <a:latin typeface="Calibri" pitchFamily="34" charset="0"/>
                <a:ea typeface="Calibri" pitchFamily="34" charset="-122"/>
                <a:cs typeface="Calibri" pitchFamily="34" charset="-120"/>
              </a:rPr>
              <a:t>Mask.Apply in the log call, or a destructuring policy.</a:t>
            </a:r>
            <a:endParaRPr lang="en-US" sz="1200" dirty="0"/>
          </a:p>
        </p:txBody>
      </p:sp>
      <p:sp>
        <p:nvSpPr>
          <p:cNvPr id="10" name="Shape 8"/>
          <p:cNvSpPr/>
          <p:nvPr/>
        </p:nvSpPr>
        <p:spPr>
          <a:xfrm>
            <a:off x="4352544" y="1691640"/>
            <a:ext cx="3474720" cy="3886200"/>
          </a:xfrm>
          <a:prstGeom prst="roundRect">
            <a:avLst>
              <a:gd name="adj" fmla="val 2105"/>
            </a:avLst>
          </a:prstGeom>
          <a:solidFill>
            <a:srgbClr val="1A1E28"/>
          </a:solidFill>
          <a:ln w="12700">
            <a:solidFill>
              <a:srgbClr val="2B3140"/>
            </a:solidFill>
            <a:prstDash val="solid"/>
          </a:ln>
        </p:spPr>
        <p:txBody>
          <a:bodyPr/>
          <a:lstStyle/>
          <a:p>
            <a:endParaRPr lang="en-SG"/>
          </a:p>
        </p:txBody>
      </p:sp>
      <p:sp>
        <p:nvSpPr>
          <p:cNvPr id="11" name="Shape 9"/>
          <p:cNvSpPr/>
          <p:nvPr/>
        </p:nvSpPr>
        <p:spPr>
          <a:xfrm>
            <a:off x="4626864" y="1965960"/>
            <a:ext cx="402336" cy="402336"/>
          </a:xfrm>
          <a:prstGeom prst="ellipse">
            <a:avLst/>
          </a:prstGeom>
          <a:solidFill>
            <a:srgbClr val="FBBF24"/>
          </a:solidFill>
          <a:ln w="12700">
            <a:solidFill>
              <a:srgbClr val="FBBF24"/>
            </a:solidFill>
            <a:prstDash val="solid"/>
          </a:ln>
        </p:spPr>
        <p:txBody>
          <a:bodyPr/>
          <a:lstStyle/>
          <a:p>
            <a:endParaRPr lang="en-SG"/>
          </a:p>
        </p:txBody>
      </p:sp>
      <p:sp>
        <p:nvSpPr>
          <p:cNvPr id="12" name="Text 10"/>
          <p:cNvSpPr/>
          <p:nvPr/>
        </p:nvSpPr>
        <p:spPr>
          <a:xfrm>
            <a:off x="4626864" y="1965960"/>
            <a:ext cx="402336" cy="402336"/>
          </a:xfrm>
          <a:prstGeom prst="rect">
            <a:avLst/>
          </a:prstGeom>
          <a:noFill/>
          <a:ln/>
        </p:spPr>
        <p:txBody>
          <a:bodyPr wrap="square" lIns="0" tIns="0" rIns="0" bIns="0" rtlCol="0" anchor="ctr"/>
          <a:lstStyle/>
          <a:p>
            <a:pPr marL="0" indent="0" algn="ctr">
              <a:buNone/>
            </a:pPr>
            <a:r>
              <a:rPr lang="en-US" sz="1500" b="1" dirty="0">
                <a:solidFill>
                  <a:srgbClr val="0F1117"/>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4626864" y="2514600"/>
            <a:ext cx="2926080" cy="329184"/>
          </a:xfrm>
          <a:prstGeom prst="rect">
            <a:avLst/>
          </a:prstGeom>
          <a:noFill/>
          <a:ln/>
        </p:spPr>
        <p:txBody>
          <a:bodyPr wrap="square" lIns="0" tIns="0" rIns="0" bIns="0" rtlCol="0" anchor="ctr"/>
          <a:lstStyle/>
          <a:p>
            <a:pPr marL="0" indent="0">
              <a:buNone/>
            </a:pPr>
            <a:r>
              <a:rPr lang="en-US" sz="1700" b="1" dirty="0">
                <a:solidFill>
                  <a:srgbClr val="E8EAF0"/>
                </a:solidFill>
                <a:latin typeface="Calibri" pitchFamily="34" charset="0"/>
                <a:ea typeface="Calibri" pitchFamily="34" charset="-122"/>
                <a:cs typeface="Calibri" pitchFamily="34" charset="-120"/>
              </a:rPr>
              <a:t>Exports</a:t>
            </a:r>
            <a:endParaRPr lang="en-US" sz="1700" dirty="0"/>
          </a:p>
        </p:txBody>
      </p:sp>
      <p:sp>
        <p:nvSpPr>
          <p:cNvPr id="14" name="Text 12"/>
          <p:cNvSpPr/>
          <p:nvPr/>
        </p:nvSpPr>
        <p:spPr>
          <a:xfrm>
            <a:off x="4626864" y="2926080"/>
            <a:ext cx="2926080" cy="1463040"/>
          </a:xfrm>
          <a:prstGeom prst="rect">
            <a:avLst/>
          </a:prstGeom>
          <a:noFill/>
          <a:ln/>
        </p:spPr>
        <p:txBody>
          <a:bodyPr wrap="square" lIns="0" tIns="0" rIns="0" bIns="0" rtlCol="0" anchor="t"/>
          <a:lstStyle/>
          <a:p>
            <a:pPr marL="0" indent="0">
              <a:lnSpc>
                <a:spcPts val="1800"/>
              </a:lnSpc>
              <a:buNone/>
            </a:pPr>
            <a:r>
              <a:rPr lang="en-US" sz="1250" dirty="0">
                <a:solidFill>
                  <a:srgbClr val="8B93A7"/>
                </a:solidFill>
                <a:latin typeface="Calibri" pitchFamily="34" charset="0"/>
                <a:ea typeface="Calibri" pitchFamily="34" charset="-122"/>
                <a:cs typeface="Calibri" pitchFamily="34" charset="-120"/>
              </a:rPr>
              <a:t>CSV and Excel generation reads the entity directly and never touches System.Text.Json.</a:t>
            </a:r>
            <a:endParaRPr lang="en-US" sz="1250" dirty="0"/>
          </a:p>
        </p:txBody>
      </p:sp>
      <p:sp>
        <p:nvSpPr>
          <p:cNvPr id="15" name="Text 13"/>
          <p:cNvSpPr/>
          <p:nvPr/>
        </p:nvSpPr>
        <p:spPr>
          <a:xfrm>
            <a:off x="4626864" y="4526280"/>
            <a:ext cx="2926080" cy="868680"/>
          </a:xfrm>
          <a:prstGeom prst="rect">
            <a:avLst/>
          </a:prstGeom>
          <a:noFill/>
          <a:ln/>
        </p:spPr>
        <p:txBody>
          <a:bodyPr wrap="square" lIns="0" tIns="0" rIns="0" bIns="0" rtlCol="0" anchor="t"/>
          <a:lstStyle/>
          <a:p>
            <a:pPr marL="0" indent="0">
              <a:lnSpc>
                <a:spcPts val="1700"/>
              </a:lnSpc>
              <a:buNone/>
            </a:pPr>
            <a:r>
              <a:rPr lang="en-US" sz="1200" dirty="0">
                <a:solidFill>
                  <a:srgbClr val="4ADE80"/>
                </a:solidFill>
                <a:latin typeface="Calibri" pitchFamily="34" charset="0"/>
                <a:ea typeface="Calibri" pitchFamily="34" charset="-122"/>
                <a:cs typeface="Calibri" pitchFamily="34" charset="-120"/>
              </a:rPr>
              <a:t>ExportCsv calls Mask.Apply explicitly.</a:t>
            </a:r>
            <a:endParaRPr lang="en-US" sz="1200" dirty="0"/>
          </a:p>
        </p:txBody>
      </p:sp>
      <p:sp>
        <p:nvSpPr>
          <p:cNvPr id="16" name="Shape 14"/>
          <p:cNvSpPr/>
          <p:nvPr/>
        </p:nvSpPr>
        <p:spPr>
          <a:xfrm>
            <a:off x="8065008" y="1691640"/>
            <a:ext cx="3474720" cy="3886200"/>
          </a:xfrm>
          <a:prstGeom prst="roundRect">
            <a:avLst>
              <a:gd name="adj" fmla="val 2105"/>
            </a:avLst>
          </a:prstGeom>
          <a:solidFill>
            <a:srgbClr val="1A1E28"/>
          </a:solidFill>
          <a:ln w="12700">
            <a:solidFill>
              <a:srgbClr val="2B3140"/>
            </a:solidFill>
            <a:prstDash val="solid"/>
          </a:ln>
        </p:spPr>
        <p:txBody>
          <a:bodyPr/>
          <a:lstStyle/>
          <a:p>
            <a:endParaRPr lang="en-SG"/>
          </a:p>
        </p:txBody>
      </p:sp>
      <p:sp>
        <p:nvSpPr>
          <p:cNvPr id="17" name="Shape 15"/>
          <p:cNvSpPr/>
          <p:nvPr/>
        </p:nvSpPr>
        <p:spPr>
          <a:xfrm>
            <a:off x="8339328" y="1965960"/>
            <a:ext cx="402336" cy="402336"/>
          </a:xfrm>
          <a:prstGeom prst="ellipse">
            <a:avLst/>
          </a:prstGeom>
          <a:solidFill>
            <a:srgbClr val="FBBF24"/>
          </a:solidFill>
          <a:ln w="12700">
            <a:solidFill>
              <a:srgbClr val="FBBF24"/>
            </a:solidFill>
            <a:prstDash val="solid"/>
          </a:ln>
        </p:spPr>
        <p:txBody>
          <a:bodyPr/>
          <a:lstStyle/>
          <a:p>
            <a:endParaRPr lang="en-SG"/>
          </a:p>
        </p:txBody>
      </p:sp>
      <p:sp>
        <p:nvSpPr>
          <p:cNvPr id="18" name="Text 16"/>
          <p:cNvSpPr/>
          <p:nvPr/>
        </p:nvSpPr>
        <p:spPr>
          <a:xfrm>
            <a:off x="8339328" y="1965960"/>
            <a:ext cx="402336" cy="402336"/>
          </a:xfrm>
          <a:prstGeom prst="rect">
            <a:avLst/>
          </a:prstGeom>
          <a:noFill/>
          <a:ln/>
        </p:spPr>
        <p:txBody>
          <a:bodyPr wrap="square" lIns="0" tIns="0" rIns="0" bIns="0" rtlCol="0" anchor="ctr"/>
          <a:lstStyle/>
          <a:p>
            <a:pPr marL="0" indent="0" algn="ctr">
              <a:buNone/>
            </a:pPr>
            <a:r>
              <a:rPr lang="en-US" sz="1500" b="1" dirty="0">
                <a:solidFill>
                  <a:srgbClr val="0F1117"/>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8339328" y="2514600"/>
            <a:ext cx="2926080" cy="329184"/>
          </a:xfrm>
          <a:prstGeom prst="rect">
            <a:avLst/>
          </a:prstGeom>
          <a:noFill/>
          <a:ln/>
        </p:spPr>
        <p:txBody>
          <a:bodyPr wrap="square" lIns="0" tIns="0" rIns="0" bIns="0" rtlCol="0" anchor="ctr"/>
          <a:lstStyle/>
          <a:p>
            <a:pPr marL="0" indent="0">
              <a:buNone/>
            </a:pPr>
            <a:r>
              <a:rPr lang="en-US" sz="1700" b="1" dirty="0">
                <a:solidFill>
                  <a:srgbClr val="E8EAF0"/>
                </a:solidFill>
                <a:latin typeface="Calibri" pitchFamily="34" charset="0"/>
                <a:ea typeface="Calibri" pitchFamily="34" charset="-122"/>
                <a:cs typeface="Calibri" pitchFamily="34" charset="-120"/>
              </a:rPr>
              <a:t>Error responses</a:t>
            </a:r>
            <a:endParaRPr lang="en-US" sz="1700" dirty="0"/>
          </a:p>
        </p:txBody>
      </p:sp>
      <p:sp>
        <p:nvSpPr>
          <p:cNvPr id="20" name="Text 18"/>
          <p:cNvSpPr/>
          <p:nvPr/>
        </p:nvSpPr>
        <p:spPr>
          <a:xfrm>
            <a:off x="8339328" y="2926080"/>
            <a:ext cx="2926080" cy="1463040"/>
          </a:xfrm>
          <a:prstGeom prst="rect">
            <a:avLst/>
          </a:prstGeom>
          <a:noFill/>
          <a:ln/>
        </p:spPr>
        <p:txBody>
          <a:bodyPr wrap="square" lIns="0" tIns="0" rIns="0" bIns="0" rtlCol="0" anchor="t"/>
          <a:lstStyle/>
          <a:p>
            <a:pPr marL="0" indent="0">
              <a:lnSpc>
                <a:spcPts val="1800"/>
              </a:lnSpc>
              <a:buNone/>
            </a:pPr>
            <a:r>
              <a:rPr lang="en-US" sz="1250" dirty="0">
                <a:solidFill>
                  <a:srgbClr val="8B93A7"/>
                </a:solidFill>
                <a:latin typeface="Calibri" pitchFamily="34" charset="0"/>
                <a:ea typeface="Calibri" pitchFamily="34" charset="-122"/>
                <a:cs typeface="Calibri" pitchFamily="34" charset="-120"/>
              </a:rPr>
              <a:t>Validation messages love to echo input back: "S1234567D is not a valid member".</a:t>
            </a:r>
            <a:endParaRPr lang="en-US" sz="1250" dirty="0"/>
          </a:p>
        </p:txBody>
      </p:sp>
      <p:sp>
        <p:nvSpPr>
          <p:cNvPr id="21" name="Text 19"/>
          <p:cNvSpPr/>
          <p:nvPr/>
        </p:nvSpPr>
        <p:spPr>
          <a:xfrm>
            <a:off x="8339328" y="4526280"/>
            <a:ext cx="2926080" cy="868680"/>
          </a:xfrm>
          <a:prstGeom prst="rect">
            <a:avLst/>
          </a:prstGeom>
          <a:noFill/>
          <a:ln/>
        </p:spPr>
        <p:txBody>
          <a:bodyPr wrap="square" lIns="0" tIns="0" rIns="0" bIns="0" rtlCol="0" anchor="t"/>
          <a:lstStyle/>
          <a:p>
            <a:pPr marL="0" indent="0">
              <a:lnSpc>
                <a:spcPts val="1700"/>
              </a:lnSpc>
              <a:buNone/>
            </a:pPr>
            <a:r>
              <a:rPr lang="en-US" sz="1200" dirty="0">
                <a:solidFill>
                  <a:srgbClr val="4ADE80"/>
                </a:solidFill>
                <a:latin typeface="Calibri" pitchFamily="34" charset="0"/>
                <a:ea typeface="Calibri" pitchFamily="34" charset="-122"/>
                <a:cs typeface="Calibri" pitchFamily="34" charset="-120"/>
              </a:rPr>
              <a:t>Check ProblemDetails and model-binding messages.</a:t>
            </a:r>
            <a:endParaRPr lang="en-US" sz="1200" dirty="0"/>
          </a:p>
        </p:txBody>
      </p:sp>
      <p:sp>
        <p:nvSpPr>
          <p:cNvPr id="22" name="Text 20"/>
          <p:cNvSpPr/>
          <p:nvPr/>
        </p:nvSpPr>
        <p:spPr>
          <a:xfrm>
            <a:off x="640080" y="5806440"/>
            <a:ext cx="10908792" cy="365760"/>
          </a:xfrm>
          <a:prstGeom prst="rect">
            <a:avLst/>
          </a:prstGeom>
          <a:noFill/>
          <a:ln/>
        </p:spPr>
        <p:txBody>
          <a:bodyPr wrap="square" lIns="0" tIns="0" rIns="0" bIns="0" rtlCol="0" anchor="ctr"/>
          <a:lstStyle/>
          <a:p>
            <a:pPr marL="0" indent="0">
              <a:buNone/>
            </a:pPr>
            <a:r>
              <a:rPr lang="en-US" sz="1300" dirty="0">
                <a:solidFill>
                  <a:srgbClr val="8B93A7"/>
                </a:solidFill>
                <a:latin typeface="Calibri" pitchFamily="34" charset="0"/>
                <a:ea typeface="Calibri" pitchFamily="34" charset="-122"/>
                <a:cs typeface="Calibri" pitchFamily="34" charset="-120"/>
              </a:rPr>
              <a:t>Fix: run the same grep against the log sink and the export, not just the wire.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411480"/>
            <a:ext cx="10908792" cy="54864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Some roles legitimately need the full value</a:t>
            </a:r>
            <a:endParaRPr lang="en-US" sz="3400" dirty="0"/>
          </a:p>
        </p:txBody>
      </p:sp>
      <p:sp>
        <p:nvSpPr>
          <p:cNvPr id="3" name="Text 1"/>
          <p:cNvSpPr/>
          <p:nvPr/>
        </p:nvSpPr>
        <p:spPr>
          <a:xfrm>
            <a:off x="640080" y="987552"/>
            <a:ext cx="10908792" cy="329184"/>
          </a:xfrm>
          <a:prstGeom prst="rect">
            <a:avLst/>
          </a:prstGeom>
          <a:noFill/>
          <a:ln/>
        </p:spPr>
        <p:txBody>
          <a:bodyPr wrap="square" lIns="0" tIns="0" rIns="0" bIns="0" rtlCol="0" anchor="ctr"/>
          <a:lstStyle/>
          <a:p>
            <a:pPr marL="0" indent="0">
              <a:buNone/>
            </a:pPr>
            <a:r>
              <a:rPr lang="en-US" sz="1500" dirty="0">
                <a:solidFill>
                  <a:srgbClr val="8B93A7"/>
                </a:solidFill>
                <a:latin typeface="Calibri" pitchFamily="34" charset="0"/>
                <a:ea typeface="Calibri" pitchFamily="34" charset="-122"/>
                <a:cs typeface="Calibri" pitchFamily="34" charset="-120"/>
              </a:rPr>
              <a:t>Allowed — but never silent</a:t>
            </a:r>
            <a:endParaRPr lang="en-US" sz="1500" dirty="0"/>
          </a:p>
        </p:txBody>
      </p:sp>
      <p:sp>
        <p:nvSpPr>
          <p:cNvPr id="4" name="Shape 2"/>
          <p:cNvSpPr/>
          <p:nvPr/>
        </p:nvSpPr>
        <p:spPr>
          <a:xfrm>
            <a:off x="640080" y="1645920"/>
            <a:ext cx="5943600" cy="1965960"/>
          </a:xfrm>
          <a:prstGeom prst="roundRect">
            <a:avLst>
              <a:gd name="adj" fmla="val 3721"/>
            </a:avLst>
          </a:prstGeom>
          <a:solidFill>
            <a:srgbClr val="090B10"/>
          </a:solidFill>
          <a:ln w="12700">
            <a:solidFill>
              <a:srgbClr val="2B3140"/>
            </a:solidFill>
            <a:prstDash val="solid"/>
          </a:ln>
        </p:spPr>
        <p:txBody>
          <a:bodyPr/>
          <a:lstStyle/>
          <a:p>
            <a:endParaRPr lang="en-SG"/>
          </a:p>
        </p:txBody>
      </p:sp>
      <p:sp>
        <p:nvSpPr>
          <p:cNvPr id="5" name="Text 3"/>
          <p:cNvSpPr/>
          <p:nvPr/>
        </p:nvSpPr>
        <p:spPr>
          <a:xfrm>
            <a:off x="841248" y="1773936"/>
            <a:ext cx="5541264" cy="237744"/>
          </a:xfrm>
          <a:prstGeom prst="rect">
            <a:avLst/>
          </a:prstGeom>
          <a:noFill/>
          <a:ln/>
        </p:spPr>
        <p:txBody>
          <a:bodyPr wrap="square" lIns="0" tIns="0" rIns="0" bIns="0" rtlCol="0" anchor="ctr"/>
          <a:lstStyle/>
          <a:p>
            <a:pPr marL="0" indent="0">
              <a:buNone/>
            </a:pPr>
            <a:r>
              <a:rPr lang="en-US" sz="1000" b="1" kern="0" spc="100" dirty="0">
                <a:solidFill>
                  <a:srgbClr val="8B93A7"/>
                </a:solidFill>
                <a:latin typeface="Calibri" pitchFamily="34" charset="0"/>
                <a:ea typeface="Calibri" pitchFamily="34" charset="-122"/>
                <a:cs typeface="Calibri" pitchFamily="34" charset="-120"/>
              </a:rPr>
              <a:t>MaskingPolicy.cs</a:t>
            </a:r>
            <a:endParaRPr lang="en-US" sz="1000" dirty="0"/>
          </a:p>
        </p:txBody>
      </p:sp>
      <p:sp>
        <p:nvSpPr>
          <p:cNvPr id="6" name="Text 4"/>
          <p:cNvSpPr/>
          <p:nvPr/>
        </p:nvSpPr>
        <p:spPr>
          <a:xfrm>
            <a:off x="841248" y="2066544"/>
            <a:ext cx="5541264" cy="1344168"/>
          </a:xfrm>
          <a:prstGeom prst="rect">
            <a:avLst/>
          </a:prstGeom>
          <a:noFill/>
          <a:ln/>
        </p:spPr>
        <p:txBody>
          <a:bodyPr wrap="square" lIns="0" tIns="0" rIns="0" bIns="0" rtlCol="0" anchor="t"/>
          <a:lstStyle/>
          <a:p>
            <a:pPr marL="0" indent="0">
              <a:lnSpc>
                <a:spcPts val="1500"/>
              </a:lnSpc>
              <a:buNone/>
            </a:pPr>
            <a:r>
              <a:rPr lang="en-US" sz="1100" dirty="0">
                <a:solidFill>
                  <a:srgbClr val="E8EAF0"/>
                </a:solidFill>
                <a:latin typeface="Courier New" pitchFamily="34" charset="0"/>
                <a:ea typeface="Courier New" pitchFamily="34" charset="-122"/>
                <a:cs typeface="Courier New" pitchFamily="34" charset="-120"/>
              </a:rPr>
              <a:t>public static bool CanViewUnmasked(ClaimsPrincipal user)
</a:t>
            </a:r>
            <a:r>
              <a:rPr lang="en-US" sz="1100" dirty="0">
                <a:solidFill>
                  <a:srgbClr val="4F8CFF"/>
                </a:solidFill>
                <a:latin typeface="Courier New" pitchFamily="34" charset="0"/>
                <a:ea typeface="Courier New" pitchFamily="34" charset="-122"/>
                <a:cs typeface="Courier New" pitchFamily="34" charset="-120"/>
              </a:rPr>
              <a:t>    =&gt; user.HasClaim("permission", "member.pii.read");</a:t>
            </a:r>
            <a:endParaRPr lang="en-US" sz="1100" dirty="0"/>
          </a:p>
        </p:txBody>
      </p:sp>
      <p:sp>
        <p:nvSpPr>
          <p:cNvPr id="7" name="Shape 5"/>
          <p:cNvSpPr/>
          <p:nvPr/>
        </p:nvSpPr>
        <p:spPr>
          <a:xfrm>
            <a:off x="640080" y="3840480"/>
            <a:ext cx="5943600" cy="1737360"/>
          </a:xfrm>
          <a:prstGeom prst="roundRect">
            <a:avLst>
              <a:gd name="adj" fmla="val 4211"/>
            </a:avLst>
          </a:prstGeom>
          <a:solidFill>
            <a:srgbClr val="090B10"/>
          </a:solidFill>
          <a:ln w="12700">
            <a:solidFill>
              <a:srgbClr val="2B3140"/>
            </a:solidFill>
            <a:prstDash val="solid"/>
          </a:ln>
        </p:spPr>
        <p:txBody>
          <a:bodyPr/>
          <a:lstStyle/>
          <a:p>
            <a:endParaRPr lang="en-SG"/>
          </a:p>
        </p:txBody>
      </p:sp>
      <p:sp>
        <p:nvSpPr>
          <p:cNvPr id="8" name="Text 6"/>
          <p:cNvSpPr/>
          <p:nvPr/>
        </p:nvSpPr>
        <p:spPr>
          <a:xfrm>
            <a:off x="841248" y="3968496"/>
            <a:ext cx="5541264" cy="237744"/>
          </a:xfrm>
          <a:prstGeom prst="rect">
            <a:avLst/>
          </a:prstGeom>
          <a:noFill/>
          <a:ln/>
        </p:spPr>
        <p:txBody>
          <a:bodyPr wrap="square" lIns="0" tIns="0" rIns="0" bIns="0" rtlCol="0" anchor="ctr"/>
          <a:lstStyle/>
          <a:p>
            <a:pPr marL="0" indent="0">
              <a:buNone/>
            </a:pPr>
            <a:r>
              <a:rPr lang="en-US" sz="1000" b="1" kern="0" spc="100" dirty="0">
                <a:solidFill>
                  <a:srgbClr val="FBBF24"/>
                </a:solidFill>
                <a:latin typeface="Calibri" pitchFamily="34" charset="0"/>
                <a:ea typeface="Calibri" pitchFamily="34" charset="-122"/>
                <a:cs typeface="Calibri" pitchFamily="34" charset="-120"/>
              </a:rPr>
              <a:t>API CONSOLE</a:t>
            </a:r>
            <a:endParaRPr lang="en-US" sz="1000" dirty="0"/>
          </a:p>
        </p:txBody>
      </p:sp>
      <p:sp>
        <p:nvSpPr>
          <p:cNvPr id="9" name="Text 7"/>
          <p:cNvSpPr/>
          <p:nvPr/>
        </p:nvSpPr>
        <p:spPr>
          <a:xfrm>
            <a:off x="841248" y="4261104"/>
            <a:ext cx="5541264" cy="1115568"/>
          </a:xfrm>
          <a:prstGeom prst="rect">
            <a:avLst/>
          </a:prstGeom>
          <a:noFill/>
          <a:ln/>
        </p:spPr>
        <p:txBody>
          <a:bodyPr wrap="square" lIns="0" tIns="0" rIns="0" bIns="0" rtlCol="0" anchor="t"/>
          <a:lstStyle/>
          <a:p>
            <a:pPr marL="0" indent="0">
              <a:lnSpc>
                <a:spcPts val="1500"/>
              </a:lnSpc>
              <a:buNone/>
            </a:pPr>
            <a:r>
              <a:rPr lang="en-US" sz="1000" dirty="0">
                <a:solidFill>
                  <a:srgbClr val="FBBF24"/>
                </a:solidFill>
                <a:latin typeface="Courier New" pitchFamily="34" charset="0"/>
                <a:ea typeface="Courier New" pitchFamily="34" charset="-122"/>
                <a:cs typeface="Courier New" pitchFamily="34" charset="-120"/>
              </a:rPr>
              <a:t>warn: UNMASKED PII ACCESS
</a:t>
            </a:r>
            <a:r>
              <a:rPr lang="en-US" sz="1000" dirty="0">
                <a:solidFill>
                  <a:srgbClr val="8B93A7"/>
                </a:solidFill>
                <a:latin typeface="Courier New" pitchFamily="34" charset="0"/>
                <a:ea typeface="Courier New" pitchFamily="34" charset="-122"/>
                <a:cs typeface="Courier New" pitchFamily="34" charset="-120"/>
              </a:rPr>
              <a:t>      path=/api/v1/members/me</a:t>
            </a:r>
            <a:endParaRPr lang="en-US" sz="1000" dirty="0"/>
          </a:p>
          <a:p>
            <a:pPr marL="0" indent="0">
              <a:lnSpc>
                <a:spcPts val="1500"/>
              </a:lnSpc>
              <a:buNone/>
            </a:pPr>
            <a:r>
              <a:rPr lang="en-US" sz="1000" dirty="0">
                <a:solidFill>
                  <a:srgbClr val="8B93A7"/>
                </a:solidFill>
                <a:latin typeface="Courier New" pitchFamily="34" charset="0"/>
                <a:ea typeface="Courier New" pitchFamily="34" charset="-122"/>
                <a:cs typeface="Courier New" pitchFamily="34" charset="-120"/>
              </a:rPr>
              <a:t>      correlationId=4d9f2a11-83b6</a:t>
            </a:r>
            <a:endParaRPr lang="en-US" sz="1000" dirty="0"/>
          </a:p>
          <a:p>
            <a:pPr marL="0" indent="0">
              <a:lnSpc>
                <a:spcPts val="1500"/>
              </a:lnSpc>
              <a:buNone/>
            </a:pPr>
            <a:r>
              <a:rPr lang="en-US" sz="1000" dirty="0">
                <a:solidFill>
                  <a:srgbClr val="8B93A7"/>
                </a:solidFill>
                <a:latin typeface="Courier New" pitchFamily="34" charset="0"/>
                <a:ea typeface="Courier New" pitchFamily="34" charset="-122"/>
                <a:cs typeface="Courier New" pitchFamily="34" charset="-120"/>
              </a:rPr>
              <a:t>      remoteIp=10.4.2.19</a:t>
            </a:r>
            <a:endParaRPr lang="en-US" sz="1000" dirty="0"/>
          </a:p>
        </p:txBody>
      </p:sp>
      <p:sp>
        <p:nvSpPr>
          <p:cNvPr id="10" name="Text 8"/>
          <p:cNvSpPr/>
          <p:nvPr/>
        </p:nvSpPr>
        <p:spPr>
          <a:xfrm>
            <a:off x="6949440" y="1691640"/>
            <a:ext cx="4572000" cy="292608"/>
          </a:xfrm>
          <a:prstGeom prst="rect">
            <a:avLst/>
          </a:prstGeom>
          <a:noFill/>
          <a:ln/>
        </p:spPr>
        <p:txBody>
          <a:bodyPr wrap="square" lIns="0" tIns="0" rIns="0" bIns="0" rtlCol="0" anchor="ctr"/>
          <a:lstStyle/>
          <a:p>
            <a:pPr marL="0" indent="0">
              <a:buNone/>
            </a:pPr>
            <a:r>
              <a:rPr lang="en-US" sz="1450" b="1" dirty="0">
                <a:solidFill>
                  <a:srgbClr val="E8EAF0"/>
                </a:solidFill>
                <a:latin typeface="Calibri" pitchFamily="34" charset="0"/>
                <a:ea typeface="Calibri" pitchFamily="34" charset="-122"/>
                <a:cs typeface="Calibri" pitchFamily="34" charset="-120"/>
              </a:rPr>
              <a:t>Claim, not role string</a:t>
            </a:r>
            <a:endParaRPr lang="en-US" sz="1450" dirty="0"/>
          </a:p>
        </p:txBody>
      </p:sp>
      <p:sp>
        <p:nvSpPr>
          <p:cNvPr id="11" name="Text 9"/>
          <p:cNvSpPr/>
          <p:nvPr/>
        </p:nvSpPr>
        <p:spPr>
          <a:xfrm>
            <a:off x="6949440" y="2002536"/>
            <a:ext cx="4572000" cy="868680"/>
          </a:xfrm>
          <a:prstGeom prst="rect">
            <a:avLst/>
          </a:prstGeom>
          <a:noFill/>
          <a:ln/>
        </p:spPr>
        <p:txBody>
          <a:bodyPr wrap="square" lIns="0" tIns="0" rIns="0" bIns="0" rtlCol="0" anchor="t"/>
          <a:lstStyle/>
          <a:p>
            <a:pPr marL="0" indent="0">
              <a:lnSpc>
                <a:spcPts val="1700"/>
              </a:lnSpc>
              <a:buNone/>
            </a:pPr>
            <a:r>
              <a:rPr lang="en-US" sz="1200" dirty="0">
                <a:solidFill>
                  <a:srgbClr val="8B93A7"/>
                </a:solidFill>
                <a:latin typeface="Calibri" pitchFamily="34" charset="0"/>
                <a:ea typeface="Calibri" pitchFamily="34" charset="-122"/>
                <a:cs typeface="Calibri" pitchFamily="34" charset="-120"/>
              </a:rPr>
              <a:t>Gate on a specific permission claim from the validated JWT — not on a header, and not on a role name that drifts.</a:t>
            </a:r>
            <a:endParaRPr lang="en-US" sz="1200" dirty="0"/>
          </a:p>
        </p:txBody>
      </p:sp>
      <p:sp>
        <p:nvSpPr>
          <p:cNvPr id="12" name="Text 10"/>
          <p:cNvSpPr/>
          <p:nvPr/>
        </p:nvSpPr>
        <p:spPr>
          <a:xfrm>
            <a:off x="6949440" y="3017520"/>
            <a:ext cx="4572000" cy="292608"/>
          </a:xfrm>
          <a:prstGeom prst="rect">
            <a:avLst/>
          </a:prstGeom>
          <a:noFill/>
          <a:ln/>
        </p:spPr>
        <p:txBody>
          <a:bodyPr wrap="square" lIns="0" tIns="0" rIns="0" bIns="0" rtlCol="0" anchor="ctr"/>
          <a:lstStyle/>
          <a:p>
            <a:pPr marL="0" indent="0">
              <a:buNone/>
            </a:pPr>
            <a:r>
              <a:rPr lang="en-US" sz="1450" b="1" dirty="0">
                <a:solidFill>
                  <a:srgbClr val="E8EAF0"/>
                </a:solidFill>
                <a:latin typeface="Calibri" pitchFamily="34" charset="0"/>
                <a:ea typeface="Calibri" pitchFamily="34" charset="-122"/>
                <a:cs typeface="Calibri" pitchFamily="34" charset="-120"/>
              </a:rPr>
              <a:t>Audit is mandatory</a:t>
            </a:r>
            <a:endParaRPr lang="en-US" sz="1450" dirty="0"/>
          </a:p>
        </p:txBody>
      </p:sp>
      <p:sp>
        <p:nvSpPr>
          <p:cNvPr id="13" name="Text 11"/>
          <p:cNvSpPr/>
          <p:nvPr/>
        </p:nvSpPr>
        <p:spPr>
          <a:xfrm>
            <a:off x="6949440" y="3328416"/>
            <a:ext cx="4572000" cy="868680"/>
          </a:xfrm>
          <a:prstGeom prst="rect">
            <a:avLst/>
          </a:prstGeom>
          <a:noFill/>
          <a:ln/>
        </p:spPr>
        <p:txBody>
          <a:bodyPr wrap="square" lIns="0" tIns="0" rIns="0" bIns="0" rtlCol="0" anchor="t"/>
          <a:lstStyle/>
          <a:p>
            <a:pPr marL="0" indent="0">
              <a:lnSpc>
                <a:spcPts val="1700"/>
              </a:lnSpc>
              <a:buNone/>
            </a:pPr>
            <a:r>
              <a:rPr lang="en-US" sz="1200" dirty="0">
                <a:solidFill>
                  <a:srgbClr val="8B93A7"/>
                </a:solidFill>
                <a:latin typeface="Calibri" pitchFamily="34" charset="0"/>
                <a:ea typeface="Calibri" pitchFamily="34" charset="-122"/>
                <a:cs typeface="Calibri" pitchFamily="34" charset="-120"/>
              </a:rPr>
              <a:t>Every bypass writes an entry. In production that goes to a tamper-evident sink, separately retained — not the app log.</a:t>
            </a:r>
            <a:endParaRPr lang="en-US" sz="1200" dirty="0"/>
          </a:p>
        </p:txBody>
      </p:sp>
      <p:sp>
        <p:nvSpPr>
          <p:cNvPr id="14" name="Text 12"/>
          <p:cNvSpPr/>
          <p:nvPr/>
        </p:nvSpPr>
        <p:spPr>
          <a:xfrm>
            <a:off x="6949440" y="4343400"/>
            <a:ext cx="4572000" cy="292608"/>
          </a:xfrm>
          <a:prstGeom prst="rect">
            <a:avLst/>
          </a:prstGeom>
          <a:noFill/>
          <a:ln/>
        </p:spPr>
        <p:txBody>
          <a:bodyPr wrap="square" lIns="0" tIns="0" rIns="0" bIns="0" rtlCol="0" anchor="ctr"/>
          <a:lstStyle/>
          <a:p>
            <a:pPr marL="0" indent="0">
              <a:buNone/>
            </a:pPr>
            <a:r>
              <a:rPr lang="en-US" sz="1450" b="1" dirty="0">
                <a:solidFill>
                  <a:srgbClr val="E8EAF0"/>
                </a:solidFill>
                <a:latin typeface="Calibri" pitchFamily="34" charset="0"/>
                <a:ea typeface="Calibri" pitchFamily="34" charset="-122"/>
                <a:cs typeface="Calibri" pitchFamily="34" charset="-120"/>
              </a:rPr>
              <a:t>Default is masked</a:t>
            </a:r>
            <a:endParaRPr lang="en-US" sz="1450" dirty="0"/>
          </a:p>
        </p:txBody>
      </p:sp>
      <p:sp>
        <p:nvSpPr>
          <p:cNvPr id="15" name="Text 13"/>
          <p:cNvSpPr/>
          <p:nvPr/>
        </p:nvSpPr>
        <p:spPr>
          <a:xfrm>
            <a:off x="6949440" y="4654296"/>
            <a:ext cx="4572000" cy="868680"/>
          </a:xfrm>
          <a:prstGeom prst="rect">
            <a:avLst/>
          </a:prstGeom>
          <a:noFill/>
          <a:ln/>
        </p:spPr>
        <p:txBody>
          <a:bodyPr wrap="square" lIns="0" tIns="0" rIns="0" bIns="0" rtlCol="0" anchor="t"/>
          <a:lstStyle/>
          <a:p>
            <a:pPr marL="0" indent="0">
              <a:lnSpc>
                <a:spcPts val="1700"/>
              </a:lnSpc>
              <a:buNone/>
            </a:pPr>
            <a:r>
              <a:rPr lang="en-US" sz="1200" dirty="0">
                <a:solidFill>
                  <a:srgbClr val="8B93A7"/>
                </a:solidFill>
                <a:latin typeface="Calibri" pitchFamily="34" charset="0"/>
                <a:ea typeface="Calibri" pitchFamily="34" charset="-122"/>
                <a:cs typeface="Calibri" pitchFamily="34" charset="-120"/>
              </a:rPr>
              <a:t>The bypass is opt-in per request. If the claim check throws or the context is missing, you get the masked value.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411480"/>
            <a:ext cx="10908792" cy="54864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Layer 2: opaque route names</a:t>
            </a:r>
            <a:endParaRPr lang="en-US" sz="3400" dirty="0"/>
          </a:p>
        </p:txBody>
      </p:sp>
      <p:sp>
        <p:nvSpPr>
          <p:cNvPr id="3" name="Text 1"/>
          <p:cNvSpPr/>
          <p:nvPr/>
        </p:nvSpPr>
        <p:spPr>
          <a:xfrm>
            <a:off x="640080" y="987552"/>
            <a:ext cx="10908792" cy="329184"/>
          </a:xfrm>
          <a:prstGeom prst="rect">
            <a:avLst/>
          </a:prstGeom>
          <a:noFill/>
          <a:ln/>
        </p:spPr>
        <p:txBody>
          <a:bodyPr wrap="square" lIns="0" tIns="0" rIns="0" bIns="0" rtlCol="0" anchor="ctr"/>
          <a:lstStyle/>
          <a:p>
            <a:pPr marL="0" indent="0">
              <a:buNone/>
            </a:pPr>
            <a:r>
              <a:rPr lang="en-US" sz="1500" dirty="0">
                <a:solidFill>
                  <a:srgbClr val="8B93A7"/>
                </a:solidFill>
                <a:latin typeface="Calibri" pitchFamily="34" charset="0"/>
                <a:ea typeface="Calibri" pitchFamily="34" charset="-122"/>
                <a:cs typeface="Calibri" pitchFamily="34" charset="-120"/>
              </a:rPr>
              <a:t>The payload is redacted. This makes the surface non-enumerable.</a:t>
            </a:r>
            <a:endParaRPr lang="en-US" sz="1500" dirty="0"/>
          </a:p>
        </p:txBody>
      </p:sp>
      <p:sp>
        <p:nvSpPr>
          <p:cNvPr id="4" name="Shape 2"/>
          <p:cNvSpPr/>
          <p:nvPr/>
        </p:nvSpPr>
        <p:spPr>
          <a:xfrm>
            <a:off x="640080" y="1600200"/>
            <a:ext cx="5349240" cy="1920240"/>
          </a:xfrm>
          <a:prstGeom prst="roundRect">
            <a:avLst>
              <a:gd name="adj" fmla="val 3810"/>
            </a:avLst>
          </a:prstGeom>
          <a:solidFill>
            <a:srgbClr val="090B10"/>
          </a:solidFill>
          <a:ln w="12700">
            <a:solidFill>
              <a:srgbClr val="2B3140"/>
            </a:solidFill>
            <a:prstDash val="solid"/>
          </a:ln>
        </p:spPr>
        <p:txBody>
          <a:bodyPr/>
          <a:lstStyle/>
          <a:p>
            <a:endParaRPr lang="en-SG"/>
          </a:p>
        </p:txBody>
      </p:sp>
      <p:sp>
        <p:nvSpPr>
          <p:cNvPr id="5" name="Text 3"/>
          <p:cNvSpPr/>
          <p:nvPr/>
        </p:nvSpPr>
        <p:spPr>
          <a:xfrm>
            <a:off x="841248" y="1728216"/>
            <a:ext cx="4946904" cy="237744"/>
          </a:xfrm>
          <a:prstGeom prst="rect">
            <a:avLst/>
          </a:prstGeom>
          <a:noFill/>
          <a:ln/>
        </p:spPr>
        <p:txBody>
          <a:bodyPr wrap="square" lIns="0" tIns="0" rIns="0" bIns="0" rtlCol="0" anchor="ctr"/>
          <a:lstStyle/>
          <a:p>
            <a:pPr marL="0" indent="0">
              <a:buNone/>
            </a:pPr>
            <a:r>
              <a:rPr lang="en-US" sz="1000" b="1" kern="0" spc="100" dirty="0">
                <a:solidFill>
                  <a:srgbClr val="FF6B6B"/>
                </a:solidFill>
                <a:latin typeface="Calibri" pitchFamily="34" charset="0"/>
                <a:ea typeface="Calibri" pitchFamily="34" charset="-122"/>
                <a:cs typeface="Calibri" pitchFamily="34" charset="-120"/>
              </a:rPr>
              <a:t>BEFORE</a:t>
            </a:r>
            <a:endParaRPr lang="en-US" sz="1000" dirty="0"/>
          </a:p>
        </p:txBody>
      </p:sp>
      <p:sp>
        <p:nvSpPr>
          <p:cNvPr id="6" name="Text 4"/>
          <p:cNvSpPr/>
          <p:nvPr/>
        </p:nvSpPr>
        <p:spPr>
          <a:xfrm>
            <a:off x="841248" y="2020824"/>
            <a:ext cx="4946904" cy="1298448"/>
          </a:xfrm>
          <a:prstGeom prst="rect">
            <a:avLst/>
          </a:prstGeom>
          <a:noFill/>
          <a:ln/>
        </p:spPr>
        <p:txBody>
          <a:bodyPr wrap="square" lIns="0" tIns="0" rIns="0" bIns="0" rtlCol="0" anchor="t"/>
          <a:lstStyle/>
          <a:p>
            <a:pPr marL="0" indent="0">
              <a:lnSpc>
                <a:spcPts val="1500"/>
              </a:lnSpc>
              <a:buNone/>
            </a:pPr>
            <a:r>
              <a:rPr lang="en-US" sz="1050" dirty="0">
                <a:solidFill>
                  <a:srgbClr val="E8EAF0"/>
                </a:solidFill>
                <a:latin typeface="Courier New" pitchFamily="34" charset="0"/>
                <a:ea typeface="Courier New" pitchFamily="34" charset="-122"/>
                <a:cs typeface="Courier New" pitchFamily="34" charset="-120"/>
              </a:rPr>
              <a:t>GET /api/v1/members/{nric}/contributions</a:t>
            </a:r>
            <a:endParaRPr lang="en-US" sz="1050" dirty="0"/>
          </a:p>
          <a:p>
            <a:pPr marL="0" indent="0">
              <a:lnSpc>
                <a:spcPts val="1500"/>
              </a:lnSpc>
              <a:buNone/>
            </a:pPr>
            <a:r>
              <a:rPr lang="en-US" sz="1050" dirty="0">
                <a:solidFill>
                  <a:srgbClr val="E8EAF0"/>
                </a:solidFill>
                <a:latin typeface="Courier New" pitchFamily="34" charset="0"/>
                <a:ea typeface="Courier New" pitchFamily="34" charset="-122"/>
                <a:cs typeface="Courier New" pitchFamily="34" charset="-120"/>
              </a:rPr>
              <a:t>GET /api/v1/members/profile</a:t>
            </a:r>
            <a:endParaRPr lang="en-US" sz="1050" dirty="0"/>
          </a:p>
          <a:p>
            <a:pPr marL="0" indent="0">
              <a:lnSpc>
                <a:spcPts val="1500"/>
              </a:lnSpc>
              <a:buNone/>
            </a:pPr>
            <a:r>
              <a:rPr lang="en-US" sz="1050" dirty="0">
                <a:solidFill>
                  <a:srgbClr val="E8EAF0"/>
                </a:solidFill>
                <a:latin typeface="Courier New" pitchFamily="34" charset="0"/>
                <a:ea typeface="Courier New" pitchFamily="34" charset="-122"/>
                <a:cs typeface="Courier New" pitchFamily="34" charset="-120"/>
              </a:rPr>
              <a:t>GET /api/v1/admin/export</a:t>
            </a:r>
            <a:endParaRPr lang="en-US" sz="1050" dirty="0"/>
          </a:p>
        </p:txBody>
      </p:sp>
      <p:sp>
        <p:nvSpPr>
          <p:cNvPr id="7" name="Shape 5"/>
          <p:cNvSpPr/>
          <p:nvPr/>
        </p:nvSpPr>
        <p:spPr>
          <a:xfrm>
            <a:off x="6245352" y="1600200"/>
            <a:ext cx="5349240" cy="1920240"/>
          </a:xfrm>
          <a:prstGeom prst="roundRect">
            <a:avLst>
              <a:gd name="adj" fmla="val 3810"/>
            </a:avLst>
          </a:prstGeom>
          <a:solidFill>
            <a:srgbClr val="090B10"/>
          </a:solidFill>
          <a:ln w="12700">
            <a:solidFill>
              <a:srgbClr val="2B3140"/>
            </a:solidFill>
            <a:prstDash val="solid"/>
          </a:ln>
        </p:spPr>
        <p:txBody>
          <a:bodyPr/>
          <a:lstStyle/>
          <a:p>
            <a:endParaRPr lang="en-SG"/>
          </a:p>
        </p:txBody>
      </p:sp>
      <p:sp>
        <p:nvSpPr>
          <p:cNvPr id="8" name="Text 6"/>
          <p:cNvSpPr/>
          <p:nvPr/>
        </p:nvSpPr>
        <p:spPr>
          <a:xfrm>
            <a:off x="6446520" y="1728216"/>
            <a:ext cx="4946904" cy="237744"/>
          </a:xfrm>
          <a:prstGeom prst="rect">
            <a:avLst/>
          </a:prstGeom>
          <a:noFill/>
          <a:ln/>
        </p:spPr>
        <p:txBody>
          <a:bodyPr wrap="square" lIns="0" tIns="0" rIns="0" bIns="0" rtlCol="0" anchor="ctr"/>
          <a:lstStyle/>
          <a:p>
            <a:pPr marL="0" indent="0">
              <a:buNone/>
            </a:pPr>
            <a:r>
              <a:rPr lang="en-US" sz="1000" b="1" kern="0" spc="100" dirty="0">
                <a:solidFill>
                  <a:srgbClr val="4ADE80"/>
                </a:solidFill>
                <a:latin typeface="Calibri" pitchFamily="34" charset="0"/>
                <a:ea typeface="Calibri" pitchFamily="34" charset="-122"/>
                <a:cs typeface="Calibri" pitchFamily="34" charset="-120"/>
              </a:rPr>
              <a:t>AFTER</a:t>
            </a:r>
            <a:endParaRPr lang="en-US" sz="1000" dirty="0"/>
          </a:p>
        </p:txBody>
      </p:sp>
      <p:sp>
        <p:nvSpPr>
          <p:cNvPr id="9" name="Text 7"/>
          <p:cNvSpPr/>
          <p:nvPr/>
        </p:nvSpPr>
        <p:spPr>
          <a:xfrm>
            <a:off x="6446520" y="2020824"/>
            <a:ext cx="4946904" cy="1298448"/>
          </a:xfrm>
          <a:prstGeom prst="rect">
            <a:avLst/>
          </a:prstGeom>
          <a:noFill/>
          <a:ln/>
        </p:spPr>
        <p:txBody>
          <a:bodyPr wrap="square" lIns="0" tIns="0" rIns="0" bIns="0" rtlCol="0" anchor="t"/>
          <a:lstStyle/>
          <a:p>
            <a:pPr marL="0" indent="0">
              <a:lnSpc>
                <a:spcPts val="1500"/>
              </a:lnSpc>
              <a:buNone/>
            </a:pPr>
            <a:r>
              <a:rPr lang="en-US" sz="1050" dirty="0">
                <a:solidFill>
                  <a:srgbClr val="4ADE80"/>
                </a:solidFill>
                <a:latin typeface="Courier New" pitchFamily="34" charset="0"/>
                <a:ea typeface="Courier New" pitchFamily="34" charset="-122"/>
                <a:cs typeface="Courier New" pitchFamily="34" charset="-120"/>
              </a:rPr>
              <a:t>GET /api/q/7f3a9c21</a:t>
            </a:r>
            <a:endParaRPr lang="en-US" sz="1050" dirty="0"/>
          </a:p>
          <a:p>
            <a:pPr marL="0" indent="0">
              <a:lnSpc>
                <a:spcPts val="1500"/>
              </a:lnSpc>
              <a:buNone/>
            </a:pPr>
            <a:r>
              <a:rPr lang="en-US" sz="1050" dirty="0">
                <a:solidFill>
                  <a:srgbClr val="4ADE80"/>
                </a:solidFill>
                <a:latin typeface="Courier New" pitchFamily="34" charset="0"/>
                <a:ea typeface="Courier New" pitchFamily="34" charset="-122"/>
                <a:cs typeface="Courier New" pitchFamily="34" charset="-120"/>
              </a:rPr>
              <a:t>GET /api/q/b40e15a8</a:t>
            </a:r>
            <a:endParaRPr lang="en-US" sz="1050" dirty="0"/>
          </a:p>
          <a:p>
            <a:pPr marL="0" indent="0">
              <a:lnSpc>
                <a:spcPts val="1500"/>
              </a:lnSpc>
              <a:buNone/>
            </a:pPr>
            <a:r>
              <a:rPr lang="en-US" sz="1050" dirty="0">
                <a:solidFill>
                  <a:srgbClr val="4ADE80"/>
                </a:solidFill>
                <a:latin typeface="Courier New" pitchFamily="34" charset="0"/>
                <a:ea typeface="Courier New" pitchFamily="34" charset="-122"/>
                <a:cs typeface="Courier New" pitchFamily="34" charset="-120"/>
              </a:rPr>
              <a:t>GET /api/q/c25e81f4</a:t>
            </a:r>
            <a:endParaRPr lang="en-US" sz="1050" dirty="0"/>
          </a:p>
        </p:txBody>
      </p:sp>
      <p:sp>
        <p:nvSpPr>
          <p:cNvPr id="10" name="Shape 8"/>
          <p:cNvSpPr/>
          <p:nvPr/>
        </p:nvSpPr>
        <p:spPr>
          <a:xfrm>
            <a:off x="640080" y="3794760"/>
            <a:ext cx="3474720" cy="2057400"/>
          </a:xfrm>
          <a:prstGeom prst="roundRect">
            <a:avLst>
              <a:gd name="adj" fmla="val 3556"/>
            </a:avLst>
          </a:prstGeom>
          <a:solidFill>
            <a:srgbClr val="1A1E28"/>
          </a:solidFill>
          <a:ln w="12700">
            <a:solidFill>
              <a:srgbClr val="2B3140"/>
            </a:solidFill>
            <a:prstDash val="solid"/>
          </a:ln>
        </p:spPr>
        <p:txBody>
          <a:bodyPr/>
          <a:lstStyle/>
          <a:p>
            <a:endParaRPr lang="en-SG"/>
          </a:p>
        </p:txBody>
      </p:sp>
      <p:sp>
        <p:nvSpPr>
          <p:cNvPr id="11" name="Text 9"/>
          <p:cNvSpPr/>
          <p:nvPr/>
        </p:nvSpPr>
        <p:spPr>
          <a:xfrm>
            <a:off x="914400" y="4023360"/>
            <a:ext cx="2926080" cy="310896"/>
          </a:xfrm>
          <a:prstGeom prst="rect">
            <a:avLst/>
          </a:prstGeom>
          <a:noFill/>
          <a:ln/>
        </p:spPr>
        <p:txBody>
          <a:bodyPr wrap="square" lIns="0" tIns="0" rIns="0" bIns="0" rtlCol="0" anchor="ctr"/>
          <a:lstStyle/>
          <a:p>
            <a:pPr marL="0" indent="0">
              <a:buNone/>
            </a:pPr>
            <a:r>
              <a:rPr lang="en-US" sz="1500" b="1" dirty="0">
                <a:solidFill>
                  <a:srgbClr val="4ADE80"/>
                </a:solidFill>
                <a:latin typeface="Calibri" pitchFamily="34" charset="0"/>
                <a:ea typeface="Calibri" pitchFamily="34" charset="-122"/>
                <a:cs typeface="Calibri" pitchFamily="34" charset="-120"/>
              </a:rPr>
              <a:t>What it stops</a:t>
            </a:r>
            <a:endParaRPr lang="en-US" sz="1500" dirty="0"/>
          </a:p>
        </p:txBody>
      </p:sp>
      <p:sp>
        <p:nvSpPr>
          <p:cNvPr id="12" name="Text 10"/>
          <p:cNvSpPr/>
          <p:nvPr/>
        </p:nvSpPr>
        <p:spPr>
          <a:xfrm>
            <a:off x="914400" y="4407408"/>
            <a:ext cx="2926080" cy="1325880"/>
          </a:xfrm>
          <a:prstGeom prst="rect">
            <a:avLst/>
          </a:prstGeom>
          <a:noFill/>
          <a:ln/>
        </p:spPr>
        <p:txBody>
          <a:bodyPr wrap="square" lIns="0" tIns="0" rIns="0" bIns="0" rtlCol="0" anchor="t"/>
          <a:lstStyle/>
          <a:p>
            <a:pPr marL="0" indent="0">
              <a:lnSpc>
                <a:spcPts val="1600"/>
              </a:lnSpc>
              <a:buNone/>
            </a:pPr>
            <a:r>
              <a:rPr lang="en-US" sz="1150" dirty="0">
                <a:solidFill>
                  <a:srgbClr val="8B93A7"/>
                </a:solidFill>
                <a:latin typeface="Calibri" pitchFamily="34" charset="0"/>
                <a:ea typeface="Calibri" pitchFamily="34" charset="-122"/>
                <a:cs typeface="Calibri" pitchFamily="34" charset="-120"/>
              </a:rPr>
              <a:t>Scanners running wordlists — /api/users, /api/admin, /api/v1/export — get 404 on everything. Nothing is guessable, so a forgotten endpoint is far less likely to be found.</a:t>
            </a:r>
            <a:endParaRPr lang="en-US" sz="1150" dirty="0"/>
          </a:p>
        </p:txBody>
      </p:sp>
      <p:sp>
        <p:nvSpPr>
          <p:cNvPr id="13" name="Shape 11"/>
          <p:cNvSpPr/>
          <p:nvPr/>
        </p:nvSpPr>
        <p:spPr>
          <a:xfrm>
            <a:off x="4352544" y="3794760"/>
            <a:ext cx="3474720" cy="2057400"/>
          </a:xfrm>
          <a:prstGeom prst="roundRect">
            <a:avLst>
              <a:gd name="adj" fmla="val 3556"/>
            </a:avLst>
          </a:prstGeom>
          <a:solidFill>
            <a:srgbClr val="1A1E28"/>
          </a:solidFill>
          <a:ln w="12700">
            <a:solidFill>
              <a:srgbClr val="2B3140"/>
            </a:solidFill>
            <a:prstDash val="solid"/>
          </a:ln>
        </p:spPr>
        <p:txBody>
          <a:bodyPr/>
          <a:lstStyle/>
          <a:p>
            <a:endParaRPr lang="en-SG"/>
          </a:p>
        </p:txBody>
      </p:sp>
      <p:sp>
        <p:nvSpPr>
          <p:cNvPr id="14" name="Text 12"/>
          <p:cNvSpPr/>
          <p:nvPr/>
        </p:nvSpPr>
        <p:spPr>
          <a:xfrm>
            <a:off x="4626864" y="4023360"/>
            <a:ext cx="2926080" cy="310896"/>
          </a:xfrm>
          <a:prstGeom prst="rect">
            <a:avLst/>
          </a:prstGeom>
          <a:noFill/>
          <a:ln/>
        </p:spPr>
        <p:txBody>
          <a:bodyPr wrap="square" lIns="0" tIns="0" rIns="0" bIns="0" rtlCol="0" anchor="ctr"/>
          <a:lstStyle/>
          <a:p>
            <a:pPr marL="0" indent="0">
              <a:buNone/>
            </a:pPr>
            <a:r>
              <a:rPr lang="en-US" sz="1500" b="1" dirty="0">
                <a:solidFill>
                  <a:srgbClr val="FBBF24"/>
                </a:solidFill>
                <a:latin typeface="Calibri" pitchFamily="34" charset="0"/>
                <a:ea typeface="Calibri" pitchFamily="34" charset="-122"/>
                <a:cs typeface="Calibri" pitchFamily="34" charset="-120"/>
              </a:rPr>
              <a:t>What it does not stop</a:t>
            </a:r>
            <a:endParaRPr lang="en-US" sz="1500" dirty="0"/>
          </a:p>
        </p:txBody>
      </p:sp>
      <p:sp>
        <p:nvSpPr>
          <p:cNvPr id="15" name="Text 13"/>
          <p:cNvSpPr/>
          <p:nvPr/>
        </p:nvSpPr>
        <p:spPr>
          <a:xfrm>
            <a:off x="4626864" y="4407408"/>
            <a:ext cx="2926080" cy="1325880"/>
          </a:xfrm>
          <a:prstGeom prst="rect">
            <a:avLst/>
          </a:prstGeom>
          <a:noFill/>
          <a:ln/>
        </p:spPr>
        <p:txBody>
          <a:bodyPr wrap="square" lIns="0" tIns="0" rIns="0" bIns="0" rtlCol="0" anchor="t"/>
          <a:lstStyle/>
          <a:p>
            <a:pPr marL="0" indent="0">
              <a:lnSpc>
                <a:spcPts val="1600"/>
              </a:lnSpc>
              <a:buNone/>
            </a:pPr>
            <a:r>
              <a:rPr lang="en-US" sz="1150" dirty="0">
                <a:solidFill>
                  <a:srgbClr val="8B93A7"/>
                </a:solidFill>
                <a:latin typeface="Calibri" pitchFamily="34" charset="0"/>
                <a:ea typeface="Calibri" pitchFamily="34" charset="-122"/>
                <a:cs typeface="Calibri" pitchFamily="34" charset="-120"/>
              </a:rPr>
              <a:t>The full map ships in the Angular bundle. Open Sources, search /api/q/, and you have every route in about thirty seconds.</a:t>
            </a:r>
            <a:endParaRPr lang="en-US" sz="1150" dirty="0"/>
          </a:p>
        </p:txBody>
      </p:sp>
      <p:sp>
        <p:nvSpPr>
          <p:cNvPr id="16" name="Shape 14"/>
          <p:cNvSpPr/>
          <p:nvPr/>
        </p:nvSpPr>
        <p:spPr>
          <a:xfrm>
            <a:off x="8065008" y="3794760"/>
            <a:ext cx="3474720" cy="2057400"/>
          </a:xfrm>
          <a:prstGeom prst="roundRect">
            <a:avLst>
              <a:gd name="adj" fmla="val 3556"/>
            </a:avLst>
          </a:prstGeom>
          <a:solidFill>
            <a:srgbClr val="1A1E28"/>
          </a:solidFill>
          <a:ln w="12700">
            <a:solidFill>
              <a:srgbClr val="2B3140"/>
            </a:solidFill>
            <a:prstDash val="solid"/>
          </a:ln>
        </p:spPr>
        <p:txBody>
          <a:bodyPr/>
          <a:lstStyle/>
          <a:p>
            <a:endParaRPr lang="en-SG"/>
          </a:p>
        </p:txBody>
      </p:sp>
      <p:sp>
        <p:nvSpPr>
          <p:cNvPr id="17" name="Text 15"/>
          <p:cNvSpPr/>
          <p:nvPr/>
        </p:nvSpPr>
        <p:spPr>
          <a:xfrm>
            <a:off x="8339328" y="4023360"/>
            <a:ext cx="2926080" cy="310896"/>
          </a:xfrm>
          <a:prstGeom prst="rect">
            <a:avLst/>
          </a:prstGeom>
          <a:noFill/>
          <a:ln/>
        </p:spPr>
        <p:txBody>
          <a:bodyPr wrap="square" lIns="0" tIns="0" rIns="0" bIns="0" rtlCol="0" anchor="ctr"/>
          <a:lstStyle/>
          <a:p>
            <a:pPr marL="0" indent="0">
              <a:buNone/>
            </a:pPr>
            <a:r>
              <a:rPr lang="en-US" sz="1500" b="1" dirty="0">
                <a:solidFill>
                  <a:srgbClr val="4F8CFF"/>
                </a:solidFill>
                <a:latin typeface="Calibri" pitchFamily="34" charset="0"/>
                <a:ea typeface="Calibri" pitchFamily="34" charset="-122"/>
                <a:cs typeface="Calibri" pitchFamily="34" charset="-120"/>
              </a:rPr>
              <a:t>So call it what it is</a:t>
            </a:r>
            <a:endParaRPr lang="en-US" sz="1500" dirty="0"/>
          </a:p>
        </p:txBody>
      </p:sp>
      <p:sp>
        <p:nvSpPr>
          <p:cNvPr id="18" name="Text 16"/>
          <p:cNvSpPr/>
          <p:nvPr/>
        </p:nvSpPr>
        <p:spPr>
          <a:xfrm>
            <a:off x="8339328" y="4407408"/>
            <a:ext cx="2926080" cy="1325880"/>
          </a:xfrm>
          <a:prstGeom prst="rect">
            <a:avLst/>
          </a:prstGeom>
          <a:noFill/>
          <a:ln/>
        </p:spPr>
        <p:txBody>
          <a:bodyPr wrap="square" lIns="0" tIns="0" rIns="0" bIns="0" rtlCol="0" anchor="t"/>
          <a:lstStyle/>
          <a:p>
            <a:pPr marL="0" indent="0">
              <a:lnSpc>
                <a:spcPts val="1600"/>
              </a:lnSpc>
              <a:buNone/>
            </a:pPr>
            <a:r>
              <a:rPr lang="en-US" sz="1150" dirty="0">
                <a:solidFill>
                  <a:srgbClr val="8B93A7"/>
                </a:solidFill>
                <a:latin typeface="Calibri" pitchFamily="34" charset="0"/>
                <a:ea typeface="Calibri" pitchFamily="34" charset="-122"/>
                <a:cs typeface="Calibri" pitchFamily="34" charset="-120"/>
              </a:rPr>
              <a:t>Non-enumerable routing, not a security control. Write it up that way in the design doc — obscurity oversold is a finding in itself.</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411480"/>
            <a:ext cx="10908792" cy="54864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Where the map lives</a:t>
            </a:r>
            <a:endParaRPr lang="en-US" sz="3400" dirty="0"/>
          </a:p>
        </p:txBody>
      </p:sp>
      <p:sp>
        <p:nvSpPr>
          <p:cNvPr id="3" name="Text 1"/>
          <p:cNvSpPr/>
          <p:nvPr/>
        </p:nvSpPr>
        <p:spPr>
          <a:xfrm>
            <a:off x="640080" y="987552"/>
            <a:ext cx="10908792" cy="329184"/>
          </a:xfrm>
          <a:prstGeom prst="rect">
            <a:avLst/>
          </a:prstGeom>
          <a:noFill/>
          <a:ln/>
        </p:spPr>
        <p:txBody>
          <a:bodyPr wrap="square" lIns="0" tIns="0" rIns="0" bIns="0" rtlCol="0" anchor="ctr"/>
          <a:lstStyle/>
          <a:p>
            <a:pPr marL="0" indent="0">
              <a:buNone/>
            </a:pPr>
            <a:r>
              <a:rPr lang="en-US" sz="1500" dirty="0">
                <a:solidFill>
                  <a:srgbClr val="8B93A7"/>
                </a:solidFill>
                <a:latin typeface="Calibri" pitchFamily="34" charset="0"/>
                <a:ea typeface="Calibri" pitchFamily="34" charset="-122"/>
                <a:cs typeface="Calibri" pitchFamily="34" charset="-120"/>
              </a:rPr>
              <a:t>At the gateway — so no .NET code changes and no redeploy to rotate an ID</a:t>
            </a:r>
            <a:endParaRPr lang="en-US" sz="1500" dirty="0"/>
          </a:p>
        </p:txBody>
      </p:sp>
      <p:sp>
        <p:nvSpPr>
          <p:cNvPr id="4" name="Shape 2"/>
          <p:cNvSpPr/>
          <p:nvPr/>
        </p:nvSpPr>
        <p:spPr>
          <a:xfrm>
            <a:off x="640080" y="1600200"/>
            <a:ext cx="6309360" cy="2514600"/>
          </a:xfrm>
          <a:prstGeom prst="roundRect">
            <a:avLst>
              <a:gd name="adj" fmla="val 2909"/>
            </a:avLst>
          </a:prstGeom>
          <a:solidFill>
            <a:srgbClr val="090B10"/>
          </a:solidFill>
          <a:ln w="12700">
            <a:solidFill>
              <a:srgbClr val="2B3140"/>
            </a:solidFill>
            <a:prstDash val="solid"/>
          </a:ln>
        </p:spPr>
        <p:txBody>
          <a:bodyPr/>
          <a:lstStyle/>
          <a:p>
            <a:endParaRPr lang="en-SG"/>
          </a:p>
        </p:txBody>
      </p:sp>
      <p:sp>
        <p:nvSpPr>
          <p:cNvPr id="5" name="Text 3"/>
          <p:cNvSpPr/>
          <p:nvPr/>
        </p:nvSpPr>
        <p:spPr>
          <a:xfrm>
            <a:off x="841248" y="1728216"/>
            <a:ext cx="5907024" cy="237744"/>
          </a:xfrm>
          <a:prstGeom prst="rect">
            <a:avLst/>
          </a:prstGeom>
          <a:noFill/>
          <a:ln/>
        </p:spPr>
        <p:txBody>
          <a:bodyPr wrap="square" lIns="0" tIns="0" rIns="0" bIns="0" rtlCol="0" anchor="ctr"/>
          <a:lstStyle/>
          <a:p>
            <a:pPr marL="0" indent="0">
              <a:buNone/>
            </a:pPr>
            <a:r>
              <a:rPr lang="en-US" sz="1000" b="1" kern="0" spc="100" dirty="0">
                <a:solidFill>
                  <a:srgbClr val="8B93A7"/>
                </a:solidFill>
                <a:latin typeface="Calibri" pitchFamily="34" charset="0"/>
                <a:ea typeface="Calibri" pitchFamily="34" charset="-122"/>
                <a:cs typeface="Calibri" pitchFamily="34" charset="-120"/>
              </a:rPr>
              <a:t>YARP appsettings.json</a:t>
            </a:r>
            <a:endParaRPr lang="en-US" sz="1000" dirty="0"/>
          </a:p>
        </p:txBody>
      </p:sp>
      <p:sp>
        <p:nvSpPr>
          <p:cNvPr id="6" name="Text 4"/>
          <p:cNvSpPr/>
          <p:nvPr/>
        </p:nvSpPr>
        <p:spPr>
          <a:xfrm>
            <a:off x="841248" y="2020824"/>
            <a:ext cx="5907024" cy="1892808"/>
          </a:xfrm>
          <a:prstGeom prst="rect">
            <a:avLst/>
          </a:prstGeom>
          <a:noFill/>
          <a:ln/>
        </p:spPr>
        <p:txBody>
          <a:bodyPr wrap="square" lIns="0" tIns="0" rIns="0" bIns="0" rtlCol="0" anchor="t"/>
          <a:lstStyle/>
          <a:p>
            <a:pPr marL="0" indent="0">
              <a:lnSpc>
                <a:spcPts val="1500"/>
              </a:lnSpc>
              <a:buNone/>
            </a:pPr>
            <a:r>
              <a:rPr lang="en-US" sz="1000" dirty="0">
                <a:solidFill>
                  <a:srgbClr val="E8EAF0"/>
                </a:solidFill>
                <a:latin typeface="Courier New" pitchFamily="34" charset="0"/>
                <a:ea typeface="Courier New" pitchFamily="34" charset="-122"/>
                <a:cs typeface="Courier New" pitchFamily="34" charset="-120"/>
              </a:rPr>
              <a:t>"Routes": {</a:t>
            </a:r>
            <a:endParaRPr lang="en-US" sz="1000" dirty="0"/>
          </a:p>
          <a:p>
            <a:pPr marL="0" indent="0">
              <a:lnSpc>
                <a:spcPts val="1500"/>
              </a:lnSpc>
              <a:buNone/>
            </a:pPr>
            <a:r>
              <a:rPr lang="en-US" sz="1000" dirty="0">
                <a:solidFill>
                  <a:srgbClr val="E8EAF0"/>
                </a:solidFill>
                <a:latin typeface="Courier New" pitchFamily="34" charset="0"/>
                <a:ea typeface="Courier New" pitchFamily="34" charset="-122"/>
                <a:cs typeface="Courier New" pitchFamily="34" charset="-120"/>
              </a:rPr>
              <a:t>  "r_7f3a9c21": {</a:t>
            </a:r>
            <a:endParaRPr lang="en-US" sz="1000" dirty="0"/>
          </a:p>
          <a:p>
            <a:pPr marL="0" indent="0">
              <a:lnSpc>
                <a:spcPts val="1500"/>
              </a:lnSpc>
              <a:buNone/>
            </a:pPr>
            <a:r>
              <a:rPr lang="en-US" sz="1000" dirty="0">
                <a:solidFill>
                  <a:srgbClr val="E8EAF0"/>
                </a:solidFill>
                <a:latin typeface="Courier New" pitchFamily="34" charset="0"/>
                <a:ea typeface="Courier New" pitchFamily="34" charset="-122"/>
                <a:cs typeface="Courier New" pitchFamily="34" charset="-120"/>
              </a:rPr>
              <a:t>    "ClusterId": "member-svc",</a:t>
            </a:r>
            <a:endParaRPr lang="en-US" sz="1000" dirty="0"/>
          </a:p>
          <a:p>
            <a:pPr marL="0" indent="0">
              <a:lnSpc>
                <a:spcPts val="1500"/>
              </a:lnSpc>
              <a:buNone/>
            </a:pPr>
            <a:r>
              <a:rPr lang="en-US" sz="1000" dirty="0">
                <a:solidFill>
                  <a:srgbClr val="4F8CFF"/>
                </a:solidFill>
                <a:latin typeface="Courier New" pitchFamily="34" charset="0"/>
                <a:ea typeface="Courier New" pitchFamily="34" charset="-122"/>
                <a:cs typeface="Courier New" pitchFamily="34" charset="-120"/>
              </a:rPr>
              <a:t>    "Match": { "Path": "/api/q/7f3a9c21" },</a:t>
            </a:r>
            <a:endParaRPr lang="en-US" sz="1000" dirty="0"/>
          </a:p>
          <a:p>
            <a:pPr marL="0" indent="0">
              <a:lnSpc>
                <a:spcPts val="1500"/>
              </a:lnSpc>
              <a:buNone/>
            </a:pPr>
            <a:r>
              <a:rPr lang="en-US" sz="1000" dirty="0">
                <a:solidFill>
                  <a:srgbClr val="E8EAF0"/>
                </a:solidFill>
                <a:latin typeface="Courier New" pitchFamily="34" charset="0"/>
                <a:ea typeface="Courier New" pitchFamily="34" charset="-122"/>
                <a:cs typeface="Courier New" pitchFamily="34" charset="-120"/>
              </a:rPr>
              <a:t>    "Transforms": [</a:t>
            </a:r>
            <a:endParaRPr lang="en-US" sz="1000" dirty="0"/>
          </a:p>
          <a:p>
            <a:pPr marL="0" indent="0">
              <a:lnSpc>
                <a:spcPts val="1500"/>
              </a:lnSpc>
              <a:buNone/>
            </a:pPr>
            <a:r>
              <a:rPr lang="en-US" sz="1000" dirty="0">
                <a:solidFill>
                  <a:srgbClr val="4ADE80"/>
                </a:solidFill>
                <a:latin typeface="Courier New" pitchFamily="34" charset="0"/>
                <a:ea typeface="Courier New" pitchFamily="34" charset="-122"/>
                <a:cs typeface="Courier New" pitchFamily="34" charset="-120"/>
              </a:rPr>
              <a:t>      { "PathSet": "/api/v1/members/contributions" },</a:t>
            </a:r>
            <a:endParaRPr lang="en-US" sz="1000" dirty="0"/>
          </a:p>
          <a:p>
            <a:pPr marL="0" indent="0">
              <a:lnSpc>
                <a:spcPts val="1500"/>
              </a:lnSpc>
              <a:buNone/>
            </a:pPr>
            <a:r>
              <a:rPr lang="en-US" sz="1000" dirty="0">
                <a:solidFill>
                  <a:srgbClr val="FBBF24"/>
                </a:solidFill>
                <a:latin typeface="Courier New" pitchFamily="34" charset="0"/>
                <a:ea typeface="Courier New" pitchFamily="34" charset="-122"/>
                <a:cs typeface="Courier New" pitchFamily="34" charset="-120"/>
              </a:rPr>
              <a:t>      { "RequestHeader": "X-Op-Name", "Set": "GetContributions" }</a:t>
            </a:r>
            <a:endParaRPr lang="en-US" sz="1000" dirty="0"/>
          </a:p>
          <a:p>
            <a:pPr marL="0" indent="0">
              <a:lnSpc>
                <a:spcPts val="1500"/>
              </a:lnSpc>
              <a:buNone/>
            </a:pPr>
            <a:r>
              <a:rPr lang="en-US" sz="1000" dirty="0">
                <a:solidFill>
                  <a:srgbClr val="E8EAF0"/>
                </a:solidFill>
                <a:latin typeface="Courier New" pitchFamily="34" charset="0"/>
                <a:ea typeface="Courier New" pitchFamily="34" charset="-122"/>
                <a:cs typeface="Courier New" pitchFamily="34" charset="-120"/>
              </a:rPr>
              <a:t>    ] } }</a:t>
            </a:r>
            <a:endParaRPr lang="en-US" sz="1000" dirty="0"/>
          </a:p>
        </p:txBody>
      </p:sp>
      <p:sp>
        <p:nvSpPr>
          <p:cNvPr id="7" name="Shape 5"/>
          <p:cNvSpPr/>
          <p:nvPr/>
        </p:nvSpPr>
        <p:spPr>
          <a:xfrm>
            <a:off x="7205472" y="1600200"/>
            <a:ext cx="4343400" cy="2514600"/>
          </a:xfrm>
          <a:prstGeom prst="roundRect">
            <a:avLst>
              <a:gd name="adj" fmla="val 2909"/>
            </a:avLst>
          </a:prstGeom>
          <a:solidFill>
            <a:srgbClr val="090B10"/>
          </a:solidFill>
          <a:ln w="12700">
            <a:solidFill>
              <a:srgbClr val="2B3140"/>
            </a:solidFill>
            <a:prstDash val="solid"/>
          </a:ln>
        </p:spPr>
        <p:txBody>
          <a:bodyPr/>
          <a:lstStyle/>
          <a:p>
            <a:endParaRPr lang="en-SG"/>
          </a:p>
        </p:txBody>
      </p:sp>
      <p:sp>
        <p:nvSpPr>
          <p:cNvPr id="8" name="Text 6"/>
          <p:cNvSpPr/>
          <p:nvPr/>
        </p:nvSpPr>
        <p:spPr>
          <a:xfrm>
            <a:off x="7406640" y="1728216"/>
            <a:ext cx="3941064" cy="237744"/>
          </a:xfrm>
          <a:prstGeom prst="rect">
            <a:avLst/>
          </a:prstGeom>
          <a:noFill/>
          <a:ln/>
        </p:spPr>
        <p:txBody>
          <a:bodyPr wrap="square" lIns="0" tIns="0" rIns="0" bIns="0" rtlCol="0" anchor="ctr"/>
          <a:lstStyle/>
          <a:p>
            <a:pPr marL="0" indent="0">
              <a:buNone/>
            </a:pPr>
            <a:r>
              <a:rPr lang="en-US" sz="1000" b="1" kern="0" spc="100" dirty="0">
                <a:solidFill>
                  <a:srgbClr val="8B93A7"/>
                </a:solidFill>
                <a:latin typeface="Calibri" pitchFamily="34" charset="0"/>
                <a:ea typeface="Calibri" pitchFamily="34" charset="-122"/>
                <a:cs typeface="Calibri" pitchFamily="34" charset="-120"/>
              </a:rPr>
              <a:t>api-routes.ts</a:t>
            </a:r>
            <a:endParaRPr lang="en-US" sz="1000" dirty="0"/>
          </a:p>
        </p:txBody>
      </p:sp>
      <p:sp>
        <p:nvSpPr>
          <p:cNvPr id="9" name="Text 7"/>
          <p:cNvSpPr/>
          <p:nvPr/>
        </p:nvSpPr>
        <p:spPr>
          <a:xfrm>
            <a:off x="7406640" y="2020824"/>
            <a:ext cx="3941064" cy="1892808"/>
          </a:xfrm>
          <a:prstGeom prst="rect">
            <a:avLst/>
          </a:prstGeom>
          <a:noFill/>
          <a:ln/>
        </p:spPr>
        <p:txBody>
          <a:bodyPr wrap="square" lIns="0" tIns="0" rIns="0" bIns="0" rtlCol="0" anchor="t"/>
          <a:lstStyle/>
          <a:p>
            <a:pPr marL="0" indent="0">
              <a:lnSpc>
                <a:spcPts val="1500"/>
              </a:lnSpc>
              <a:buNone/>
            </a:pPr>
            <a:r>
              <a:rPr lang="en-US" sz="1000" dirty="0">
                <a:solidFill>
                  <a:srgbClr val="E8EAF0"/>
                </a:solidFill>
                <a:latin typeface="Courier New" pitchFamily="34" charset="0"/>
                <a:ea typeface="Courier New" pitchFamily="34" charset="-122"/>
                <a:cs typeface="Courier New" pitchFamily="34" charset="-120"/>
              </a:rPr>
              <a:t>export const API = {</a:t>
            </a:r>
            <a:endParaRPr lang="en-US" sz="1000" dirty="0"/>
          </a:p>
          <a:p>
            <a:pPr marL="0" indent="0">
              <a:lnSpc>
                <a:spcPts val="1500"/>
              </a:lnSpc>
              <a:buNone/>
            </a:pPr>
            <a:r>
              <a:rPr lang="en-US" sz="1000" dirty="0">
                <a:solidFill>
                  <a:srgbClr val="E8EAF0"/>
                </a:solidFill>
                <a:latin typeface="Courier New" pitchFamily="34" charset="0"/>
                <a:ea typeface="Courier New" pitchFamily="34" charset="-122"/>
                <a:cs typeface="Courier New" pitchFamily="34" charset="-120"/>
              </a:rPr>
              <a:t>  contributions: </a:t>
            </a:r>
            <a:r>
              <a:rPr lang="en-US" sz="1000" dirty="0">
                <a:solidFill>
                  <a:srgbClr val="4ADE80"/>
                </a:solidFill>
                <a:latin typeface="Courier New" pitchFamily="34" charset="0"/>
                <a:ea typeface="Courier New" pitchFamily="34" charset="-122"/>
                <a:cs typeface="Courier New" pitchFamily="34" charset="-120"/>
              </a:rPr>
              <a:t>'/api/q/7f3a9c21'</a:t>
            </a:r>
            <a:r>
              <a:rPr lang="en-US" sz="1000" dirty="0">
                <a:solidFill>
                  <a:srgbClr val="E8EAF0"/>
                </a:solidFill>
                <a:latin typeface="Courier New" pitchFamily="34" charset="0"/>
                <a:ea typeface="Courier New" pitchFamily="34" charset="-122"/>
                <a:cs typeface="Courier New" pitchFamily="34" charset="-120"/>
              </a:rPr>
              <a:t>,</a:t>
            </a:r>
            <a:endParaRPr lang="en-US" sz="1000" dirty="0"/>
          </a:p>
          <a:p>
            <a:pPr marL="0" indent="0">
              <a:lnSpc>
                <a:spcPts val="1500"/>
              </a:lnSpc>
              <a:buNone/>
            </a:pPr>
            <a:r>
              <a:rPr lang="en-US" sz="1000" dirty="0">
                <a:solidFill>
                  <a:srgbClr val="E8EAF0"/>
                </a:solidFill>
                <a:latin typeface="Courier New" pitchFamily="34" charset="0"/>
                <a:ea typeface="Courier New" pitchFamily="34" charset="-122"/>
                <a:cs typeface="Courier New" pitchFamily="34" charset="-120"/>
              </a:rPr>
              <a:t>  profile:       </a:t>
            </a:r>
            <a:r>
              <a:rPr lang="en-US" sz="1000" dirty="0">
                <a:solidFill>
                  <a:srgbClr val="4ADE80"/>
                </a:solidFill>
                <a:latin typeface="Courier New" pitchFamily="34" charset="0"/>
                <a:ea typeface="Courier New" pitchFamily="34" charset="-122"/>
                <a:cs typeface="Courier New" pitchFamily="34" charset="-120"/>
              </a:rPr>
              <a:t>'/api/q/b40e15a8'</a:t>
            </a:r>
            <a:r>
              <a:rPr lang="en-US" sz="1000" dirty="0">
                <a:solidFill>
                  <a:srgbClr val="E8EAF0"/>
                </a:solidFill>
                <a:latin typeface="Courier New" pitchFamily="34" charset="0"/>
                <a:ea typeface="Courier New" pitchFamily="34" charset="-122"/>
                <a:cs typeface="Courier New" pitchFamily="34" charset="-120"/>
              </a:rPr>
              <a:t>,</a:t>
            </a:r>
            <a:endParaRPr lang="en-US" sz="1000" dirty="0"/>
          </a:p>
          <a:p>
            <a:pPr marL="0" indent="0">
              <a:lnSpc>
                <a:spcPts val="1500"/>
              </a:lnSpc>
              <a:buNone/>
            </a:pPr>
            <a:r>
              <a:rPr lang="en-US" sz="1000" dirty="0">
                <a:solidFill>
                  <a:srgbClr val="E8EAF0"/>
                </a:solidFill>
                <a:latin typeface="Courier New" pitchFamily="34" charset="0"/>
                <a:ea typeface="Courier New" pitchFamily="34" charset="-122"/>
                <a:cs typeface="Courier New" pitchFamily="34" charset="-120"/>
              </a:rPr>
              <a:t>} as const;</a:t>
            </a:r>
            <a:endParaRPr lang="en-US" sz="1000" dirty="0"/>
          </a:p>
          <a:p>
            <a:pPr marL="0" indent="0">
              <a:lnSpc>
                <a:spcPts val="1500"/>
              </a:lnSpc>
              <a:buNone/>
            </a:pPr>
            <a:endParaRPr lang="en-US" sz="1000" dirty="0"/>
          </a:p>
          <a:p>
            <a:pPr marL="0" indent="0">
              <a:lnSpc>
                <a:spcPts val="1500"/>
              </a:lnSpc>
              <a:buNone/>
            </a:pPr>
            <a:r>
              <a:rPr lang="en-US" sz="1000" dirty="0">
                <a:solidFill>
                  <a:srgbClr val="8B93A7"/>
                </a:solidFill>
                <a:latin typeface="Courier New" pitchFamily="34" charset="0"/>
                <a:ea typeface="Courier New" pitchFamily="34" charset="-122"/>
                <a:cs typeface="Courier New" pitchFamily="34" charset="-120"/>
              </a:rPr>
              <a:t>// readable names stay on the left,</a:t>
            </a:r>
            <a:endParaRPr lang="en-US" sz="1000" dirty="0"/>
          </a:p>
          <a:p>
            <a:pPr marL="0" indent="0">
              <a:lnSpc>
                <a:spcPts val="1500"/>
              </a:lnSpc>
              <a:buNone/>
            </a:pPr>
            <a:r>
              <a:rPr lang="en-US" sz="1000" dirty="0">
                <a:solidFill>
                  <a:srgbClr val="8B93A7"/>
                </a:solidFill>
                <a:latin typeface="Courier New" pitchFamily="34" charset="0"/>
                <a:ea typeface="Courier New" pitchFamily="34" charset="-122"/>
                <a:cs typeface="Courier New" pitchFamily="34" charset="-120"/>
              </a:rPr>
              <a:t>// so components stay legible</a:t>
            </a:r>
            <a:endParaRPr lang="en-US" sz="1000" dirty="0"/>
          </a:p>
        </p:txBody>
      </p:sp>
      <p:sp>
        <p:nvSpPr>
          <p:cNvPr id="10" name="Shape 8"/>
          <p:cNvSpPr/>
          <p:nvPr/>
        </p:nvSpPr>
        <p:spPr>
          <a:xfrm>
            <a:off x="640080" y="4343400"/>
            <a:ext cx="3474720" cy="1508760"/>
          </a:xfrm>
          <a:prstGeom prst="roundRect">
            <a:avLst>
              <a:gd name="adj" fmla="val 4848"/>
            </a:avLst>
          </a:prstGeom>
          <a:solidFill>
            <a:srgbClr val="1A1E28"/>
          </a:solidFill>
          <a:ln w="12700">
            <a:solidFill>
              <a:srgbClr val="2B3140"/>
            </a:solidFill>
            <a:prstDash val="solid"/>
          </a:ln>
        </p:spPr>
        <p:txBody>
          <a:bodyPr/>
          <a:lstStyle/>
          <a:p>
            <a:endParaRPr lang="en-SG"/>
          </a:p>
        </p:txBody>
      </p:sp>
      <p:sp>
        <p:nvSpPr>
          <p:cNvPr id="11" name="Text 9"/>
          <p:cNvSpPr/>
          <p:nvPr/>
        </p:nvSpPr>
        <p:spPr>
          <a:xfrm>
            <a:off x="914400" y="4526280"/>
            <a:ext cx="2926080" cy="292608"/>
          </a:xfrm>
          <a:prstGeom prst="rect">
            <a:avLst/>
          </a:prstGeom>
          <a:noFill/>
          <a:ln/>
        </p:spPr>
        <p:txBody>
          <a:bodyPr wrap="square" lIns="0" tIns="0" rIns="0" bIns="0" rtlCol="0" anchor="ctr"/>
          <a:lstStyle/>
          <a:p>
            <a:pPr marL="0" indent="0">
              <a:buNone/>
            </a:pPr>
            <a:r>
              <a:rPr lang="en-US" sz="1350" b="1" dirty="0">
                <a:solidFill>
                  <a:srgbClr val="E8EAF0"/>
                </a:solidFill>
                <a:latin typeface="Calibri" pitchFamily="34" charset="0"/>
                <a:ea typeface="Calibri" pitchFamily="34" charset="-122"/>
                <a:cs typeface="Calibri" pitchFamily="34" charset="-120"/>
              </a:rPr>
              <a:t>Not on the controllers</a:t>
            </a:r>
            <a:endParaRPr lang="en-US" sz="1350" dirty="0"/>
          </a:p>
        </p:txBody>
      </p:sp>
      <p:sp>
        <p:nvSpPr>
          <p:cNvPr id="12" name="Text 10"/>
          <p:cNvSpPr/>
          <p:nvPr/>
        </p:nvSpPr>
        <p:spPr>
          <a:xfrm>
            <a:off x="914400" y="4864608"/>
            <a:ext cx="2926080" cy="868680"/>
          </a:xfrm>
          <a:prstGeom prst="rect">
            <a:avLst/>
          </a:prstGeom>
          <a:noFill/>
          <a:ln/>
        </p:spPr>
        <p:txBody>
          <a:bodyPr wrap="square" lIns="0" tIns="0" rIns="0" bIns="0" rtlCol="0" anchor="t"/>
          <a:lstStyle/>
          <a:p>
            <a:pPr marL="0" indent="0">
              <a:lnSpc>
                <a:spcPts val="1500"/>
              </a:lnSpc>
              <a:buNone/>
            </a:pPr>
            <a:r>
              <a:rPr lang="en-US" sz="1100" dirty="0">
                <a:solidFill>
                  <a:srgbClr val="8B93A7"/>
                </a:solidFill>
                <a:latin typeface="Calibri" pitchFamily="34" charset="0"/>
                <a:ea typeface="Calibri" pitchFamily="34" charset="-122"/>
                <a:cs typeface="Calibri" pitchFamily="34" charset="-120"/>
              </a:rPr>
              <a:t>An opaque ID in a [HttpGet] attribute sits next to a method called GetContributions, and nobody can find anything six months later.</a:t>
            </a:r>
            <a:endParaRPr lang="en-US" sz="1100" dirty="0"/>
          </a:p>
        </p:txBody>
      </p:sp>
      <p:sp>
        <p:nvSpPr>
          <p:cNvPr id="13" name="Shape 11"/>
          <p:cNvSpPr/>
          <p:nvPr/>
        </p:nvSpPr>
        <p:spPr>
          <a:xfrm>
            <a:off x="4352544" y="4343400"/>
            <a:ext cx="3474720" cy="1508760"/>
          </a:xfrm>
          <a:prstGeom prst="roundRect">
            <a:avLst>
              <a:gd name="adj" fmla="val 4848"/>
            </a:avLst>
          </a:prstGeom>
          <a:solidFill>
            <a:srgbClr val="1A1E28"/>
          </a:solidFill>
          <a:ln w="12700">
            <a:solidFill>
              <a:srgbClr val="2B3140"/>
            </a:solidFill>
            <a:prstDash val="solid"/>
          </a:ln>
        </p:spPr>
        <p:txBody>
          <a:bodyPr/>
          <a:lstStyle/>
          <a:p>
            <a:endParaRPr lang="en-SG"/>
          </a:p>
        </p:txBody>
      </p:sp>
      <p:sp>
        <p:nvSpPr>
          <p:cNvPr id="14" name="Text 12"/>
          <p:cNvSpPr/>
          <p:nvPr/>
        </p:nvSpPr>
        <p:spPr>
          <a:xfrm>
            <a:off x="4626864" y="4526280"/>
            <a:ext cx="2926080" cy="292608"/>
          </a:xfrm>
          <a:prstGeom prst="rect">
            <a:avLst/>
          </a:prstGeom>
          <a:noFill/>
          <a:ln/>
        </p:spPr>
        <p:txBody>
          <a:bodyPr wrap="square" lIns="0" tIns="0" rIns="0" bIns="0" rtlCol="0" anchor="ctr"/>
          <a:lstStyle/>
          <a:p>
            <a:pPr marL="0" indent="0">
              <a:buNone/>
            </a:pPr>
            <a:r>
              <a:rPr lang="en-US" sz="1350" b="1" dirty="0">
                <a:solidFill>
                  <a:srgbClr val="E8EAF0"/>
                </a:solidFill>
                <a:latin typeface="Calibri" pitchFamily="34" charset="0"/>
                <a:ea typeface="Calibri" pitchFamily="34" charset="-122"/>
                <a:cs typeface="Calibri" pitchFamily="34" charset="-120"/>
              </a:rPr>
              <a:t>Keep dashboards readable</a:t>
            </a:r>
            <a:endParaRPr lang="en-US" sz="1350" dirty="0"/>
          </a:p>
        </p:txBody>
      </p:sp>
      <p:sp>
        <p:nvSpPr>
          <p:cNvPr id="15" name="Text 13"/>
          <p:cNvSpPr/>
          <p:nvPr/>
        </p:nvSpPr>
        <p:spPr>
          <a:xfrm>
            <a:off x="4626864" y="4864608"/>
            <a:ext cx="2926080" cy="868680"/>
          </a:xfrm>
          <a:prstGeom prst="rect">
            <a:avLst/>
          </a:prstGeom>
          <a:noFill/>
          <a:ln/>
        </p:spPr>
        <p:txBody>
          <a:bodyPr wrap="square" lIns="0" tIns="0" rIns="0" bIns="0" rtlCol="0" anchor="t"/>
          <a:lstStyle/>
          <a:p>
            <a:pPr marL="0" indent="0">
              <a:lnSpc>
                <a:spcPts val="1500"/>
              </a:lnSpc>
              <a:buNone/>
            </a:pPr>
            <a:r>
              <a:rPr lang="en-US" sz="1100" dirty="0">
                <a:solidFill>
                  <a:srgbClr val="8B93A7"/>
                </a:solidFill>
                <a:latin typeface="Calibri" pitchFamily="34" charset="0"/>
                <a:ea typeface="Calibri" pitchFamily="34" charset="-122"/>
                <a:cs typeface="Calibri" pitchFamily="34" charset="-120"/>
              </a:rPr>
              <a:t>Log X-Op-Name, never the public path — otherwise App Insights becomes a wall of /api/q/7f3a9c21 at 2am.</a:t>
            </a:r>
            <a:endParaRPr lang="en-US" sz="1100" dirty="0"/>
          </a:p>
        </p:txBody>
      </p:sp>
      <p:sp>
        <p:nvSpPr>
          <p:cNvPr id="16" name="Shape 14"/>
          <p:cNvSpPr/>
          <p:nvPr/>
        </p:nvSpPr>
        <p:spPr>
          <a:xfrm>
            <a:off x="8065008" y="4343400"/>
            <a:ext cx="3474720" cy="1508760"/>
          </a:xfrm>
          <a:prstGeom prst="roundRect">
            <a:avLst>
              <a:gd name="adj" fmla="val 4848"/>
            </a:avLst>
          </a:prstGeom>
          <a:solidFill>
            <a:srgbClr val="1A1E28"/>
          </a:solidFill>
          <a:ln w="12700">
            <a:solidFill>
              <a:srgbClr val="2B3140"/>
            </a:solidFill>
            <a:prstDash val="solid"/>
          </a:ln>
        </p:spPr>
        <p:txBody>
          <a:bodyPr/>
          <a:lstStyle/>
          <a:p>
            <a:endParaRPr lang="en-SG"/>
          </a:p>
        </p:txBody>
      </p:sp>
      <p:sp>
        <p:nvSpPr>
          <p:cNvPr id="17" name="Text 15"/>
          <p:cNvSpPr/>
          <p:nvPr/>
        </p:nvSpPr>
        <p:spPr>
          <a:xfrm>
            <a:off x="8339328" y="4526280"/>
            <a:ext cx="2926080" cy="292608"/>
          </a:xfrm>
          <a:prstGeom prst="rect">
            <a:avLst/>
          </a:prstGeom>
          <a:noFill/>
          <a:ln/>
        </p:spPr>
        <p:txBody>
          <a:bodyPr wrap="square" lIns="0" tIns="0" rIns="0" bIns="0" rtlCol="0" anchor="ctr"/>
          <a:lstStyle/>
          <a:p>
            <a:pPr marL="0" indent="0">
              <a:buNone/>
            </a:pPr>
            <a:r>
              <a:rPr lang="en-US" sz="1350" b="1" dirty="0">
                <a:solidFill>
                  <a:srgbClr val="E8EAF0"/>
                </a:solidFill>
                <a:latin typeface="Calibri" pitchFamily="34" charset="0"/>
                <a:ea typeface="Calibri" pitchFamily="34" charset="-122"/>
                <a:cs typeface="Calibri" pitchFamily="34" charset="-120"/>
              </a:rPr>
              <a:t>Block the internal paths</a:t>
            </a:r>
            <a:endParaRPr lang="en-US" sz="1350" dirty="0"/>
          </a:p>
        </p:txBody>
      </p:sp>
      <p:sp>
        <p:nvSpPr>
          <p:cNvPr id="18" name="Text 16"/>
          <p:cNvSpPr/>
          <p:nvPr/>
        </p:nvSpPr>
        <p:spPr>
          <a:xfrm>
            <a:off x="8339328" y="4864608"/>
            <a:ext cx="2926080" cy="868680"/>
          </a:xfrm>
          <a:prstGeom prst="rect">
            <a:avLst/>
          </a:prstGeom>
          <a:noFill/>
          <a:ln/>
        </p:spPr>
        <p:txBody>
          <a:bodyPr wrap="square" lIns="0" tIns="0" rIns="0" bIns="0" rtlCol="0" anchor="t"/>
          <a:lstStyle/>
          <a:p>
            <a:pPr marL="0" indent="0">
              <a:lnSpc>
                <a:spcPts val="1500"/>
              </a:lnSpc>
              <a:buNone/>
            </a:pPr>
            <a:r>
              <a:rPr lang="en-US" sz="1100" dirty="0">
                <a:solidFill>
                  <a:srgbClr val="8B93A7"/>
                </a:solidFill>
                <a:latin typeface="Calibri" pitchFamily="34" charset="0"/>
                <a:ea typeface="Calibri" pitchFamily="34" charset="-122"/>
                <a:cs typeface="Calibri" pitchFamily="34" charset="-120"/>
              </a:rPr>
              <a:t>If the readable route is still reachable through the gateway, the opaque one bought you nothing.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411480"/>
            <a:ext cx="10908792" cy="54864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Live demo</a:t>
            </a:r>
            <a:endParaRPr lang="en-US" sz="3400" dirty="0"/>
          </a:p>
        </p:txBody>
      </p:sp>
      <p:sp>
        <p:nvSpPr>
          <p:cNvPr id="3" name="Text 1"/>
          <p:cNvSpPr/>
          <p:nvPr/>
        </p:nvSpPr>
        <p:spPr>
          <a:xfrm>
            <a:off x="640080" y="987552"/>
            <a:ext cx="10908792" cy="329184"/>
          </a:xfrm>
          <a:prstGeom prst="rect">
            <a:avLst/>
          </a:prstGeom>
          <a:noFill/>
          <a:ln/>
        </p:spPr>
        <p:txBody>
          <a:bodyPr wrap="square" lIns="0" tIns="0" rIns="0" bIns="0" rtlCol="0" anchor="ctr"/>
          <a:lstStyle/>
          <a:p>
            <a:pPr marL="0" indent="0">
              <a:buNone/>
            </a:pPr>
            <a:r>
              <a:rPr lang="en-US" sz="1500" dirty="0">
                <a:solidFill>
                  <a:srgbClr val="8B93A7"/>
                </a:solidFill>
                <a:latin typeface="Calibri" pitchFamily="34" charset="0"/>
                <a:ea typeface="Calibri" pitchFamily="34" charset="-122"/>
                <a:cs typeface="Calibri" pitchFamily="34" charset="-120"/>
              </a:rPr>
              <a:t>Backend on :5219, Angular on :4200, DevTools open on Fetch/XHR</a:t>
            </a:r>
            <a:endParaRPr lang="en-US" sz="1500" dirty="0"/>
          </a:p>
        </p:txBody>
      </p:sp>
      <p:sp>
        <p:nvSpPr>
          <p:cNvPr id="4" name="Shape 2"/>
          <p:cNvSpPr/>
          <p:nvPr/>
        </p:nvSpPr>
        <p:spPr>
          <a:xfrm>
            <a:off x="640080" y="1691640"/>
            <a:ext cx="6766560" cy="731520"/>
          </a:xfrm>
          <a:prstGeom prst="roundRect">
            <a:avLst>
              <a:gd name="adj" fmla="val 10000"/>
            </a:avLst>
          </a:prstGeom>
          <a:solidFill>
            <a:srgbClr val="1A1E28"/>
          </a:solidFill>
          <a:ln w="12700">
            <a:solidFill>
              <a:srgbClr val="2B3140"/>
            </a:solidFill>
            <a:prstDash val="solid"/>
          </a:ln>
        </p:spPr>
        <p:txBody>
          <a:bodyPr/>
          <a:lstStyle/>
          <a:p>
            <a:endParaRPr lang="en-SG"/>
          </a:p>
        </p:txBody>
      </p:sp>
      <p:sp>
        <p:nvSpPr>
          <p:cNvPr id="5" name="Shape 3"/>
          <p:cNvSpPr/>
          <p:nvPr/>
        </p:nvSpPr>
        <p:spPr>
          <a:xfrm>
            <a:off x="868680" y="1892808"/>
            <a:ext cx="310896" cy="310896"/>
          </a:xfrm>
          <a:prstGeom prst="ellipse">
            <a:avLst/>
          </a:prstGeom>
          <a:solidFill>
            <a:srgbClr val="4ADE80"/>
          </a:solidFill>
          <a:ln w="12700">
            <a:solidFill>
              <a:srgbClr val="4ADE80"/>
            </a:solidFill>
            <a:prstDash val="solid"/>
          </a:ln>
        </p:spPr>
        <p:txBody>
          <a:bodyPr/>
          <a:lstStyle/>
          <a:p>
            <a:endParaRPr lang="en-SG"/>
          </a:p>
        </p:txBody>
      </p:sp>
      <p:sp>
        <p:nvSpPr>
          <p:cNvPr id="6" name="Text 4"/>
          <p:cNvSpPr/>
          <p:nvPr/>
        </p:nvSpPr>
        <p:spPr>
          <a:xfrm>
            <a:off x="868680" y="1911096"/>
            <a:ext cx="310896" cy="274320"/>
          </a:xfrm>
          <a:prstGeom prst="rect">
            <a:avLst/>
          </a:prstGeom>
          <a:noFill/>
          <a:ln/>
        </p:spPr>
        <p:txBody>
          <a:bodyPr wrap="square" lIns="0" tIns="0" rIns="0" bIns="0" rtlCol="0" anchor="ctr"/>
          <a:lstStyle/>
          <a:p>
            <a:pPr marL="0" indent="0" algn="ctr">
              <a:buNone/>
            </a:pPr>
            <a:r>
              <a:rPr lang="en-US" sz="1300" b="1" dirty="0">
                <a:solidFill>
                  <a:srgbClr val="0F1117"/>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25880" y="1792224"/>
            <a:ext cx="2286000" cy="274320"/>
          </a:xfrm>
          <a:prstGeom prst="rect">
            <a:avLst/>
          </a:prstGeom>
          <a:noFill/>
          <a:ln/>
        </p:spPr>
        <p:txBody>
          <a:bodyPr wrap="square" lIns="0" tIns="0" rIns="0" bIns="0" rtlCol="0" anchor="ctr"/>
          <a:lstStyle/>
          <a:p>
            <a:pPr marL="0" indent="0">
              <a:buNone/>
            </a:pPr>
            <a:r>
              <a:rPr lang="en-US" sz="1150" b="1" dirty="0">
                <a:solidFill>
                  <a:srgbClr val="E8EAF0"/>
                </a:solidFill>
                <a:latin typeface="Courier New" pitchFamily="34" charset="0"/>
                <a:ea typeface="Courier New" pitchFamily="34" charset="-122"/>
                <a:cs typeface="Courier New" pitchFamily="34" charset="-120"/>
              </a:rPr>
              <a:t>GET /api/q/7f3a9c21</a:t>
            </a:r>
            <a:endParaRPr lang="en-US" sz="1150" dirty="0"/>
          </a:p>
        </p:txBody>
      </p:sp>
      <p:sp>
        <p:nvSpPr>
          <p:cNvPr id="8" name="Text 6"/>
          <p:cNvSpPr/>
          <p:nvPr/>
        </p:nvSpPr>
        <p:spPr>
          <a:xfrm>
            <a:off x="1325880" y="2057400"/>
            <a:ext cx="5852160" cy="274320"/>
          </a:xfrm>
          <a:prstGeom prst="rect">
            <a:avLst/>
          </a:prstGeom>
          <a:noFill/>
          <a:ln/>
        </p:spPr>
        <p:txBody>
          <a:bodyPr wrap="square" lIns="0" tIns="0" rIns="0" bIns="0" rtlCol="0" anchor="ctr"/>
          <a:lstStyle/>
          <a:p>
            <a:pPr marL="0" indent="0">
              <a:buNone/>
            </a:pPr>
            <a:r>
              <a:rPr lang="en-US" sz="1150" dirty="0">
                <a:solidFill>
                  <a:srgbClr val="8B93A7"/>
                </a:solidFill>
                <a:latin typeface="Calibri" pitchFamily="34" charset="0"/>
                <a:ea typeface="Calibri" pitchFamily="34" charset="-122"/>
                <a:cs typeface="Calibri" pitchFamily="34" charset="-120"/>
              </a:rPr>
              <a:t>Masked payload, opaque path, one origin.</a:t>
            </a:r>
            <a:endParaRPr lang="en-US" sz="1150" dirty="0"/>
          </a:p>
        </p:txBody>
      </p:sp>
      <p:sp>
        <p:nvSpPr>
          <p:cNvPr id="9" name="Shape 7"/>
          <p:cNvSpPr/>
          <p:nvPr/>
        </p:nvSpPr>
        <p:spPr>
          <a:xfrm>
            <a:off x="640080" y="2532888"/>
            <a:ext cx="6766560" cy="731520"/>
          </a:xfrm>
          <a:prstGeom prst="roundRect">
            <a:avLst>
              <a:gd name="adj" fmla="val 10000"/>
            </a:avLst>
          </a:prstGeom>
          <a:solidFill>
            <a:srgbClr val="1A1E28"/>
          </a:solidFill>
          <a:ln w="12700">
            <a:solidFill>
              <a:srgbClr val="2B3140"/>
            </a:solidFill>
            <a:prstDash val="solid"/>
          </a:ln>
        </p:spPr>
        <p:txBody>
          <a:bodyPr/>
          <a:lstStyle/>
          <a:p>
            <a:endParaRPr lang="en-SG"/>
          </a:p>
        </p:txBody>
      </p:sp>
      <p:sp>
        <p:nvSpPr>
          <p:cNvPr id="10" name="Shape 8"/>
          <p:cNvSpPr/>
          <p:nvPr/>
        </p:nvSpPr>
        <p:spPr>
          <a:xfrm>
            <a:off x="868680" y="2734056"/>
            <a:ext cx="310896" cy="310896"/>
          </a:xfrm>
          <a:prstGeom prst="ellipse">
            <a:avLst/>
          </a:prstGeom>
          <a:solidFill>
            <a:srgbClr val="8B93A7"/>
          </a:solidFill>
          <a:ln w="12700">
            <a:solidFill>
              <a:srgbClr val="8B93A7"/>
            </a:solidFill>
            <a:prstDash val="solid"/>
          </a:ln>
        </p:spPr>
        <p:txBody>
          <a:bodyPr/>
          <a:lstStyle/>
          <a:p>
            <a:endParaRPr lang="en-SG"/>
          </a:p>
        </p:txBody>
      </p:sp>
      <p:sp>
        <p:nvSpPr>
          <p:cNvPr id="11" name="Text 9"/>
          <p:cNvSpPr/>
          <p:nvPr/>
        </p:nvSpPr>
        <p:spPr>
          <a:xfrm>
            <a:off x="868680" y="2752344"/>
            <a:ext cx="310896" cy="274320"/>
          </a:xfrm>
          <a:prstGeom prst="rect">
            <a:avLst/>
          </a:prstGeom>
          <a:noFill/>
          <a:ln/>
        </p:spPr>
        <p:txBody>
          <a:bodyPr wrap="square" lIns="0" tIns="0" rIns="0" bIns="0" rtlCol="0" anchor="ctr"/>
          <a:lstStyle/>
          <a:p>
            <a:pPr marL="0" indent="0" algn="ctr">
              <a:buNone/>
            </a:pPr>
            <a:r>
              <a:rPr lang="en-US" sz="1300" b="1" dirty="0">
                <a:solidFill>
                  <a:srgbClr val="0F1117"/>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325880" y="2633472"/>
            <a:ext cx="2286000" cy="274320"/>
          </a:xfrm>
          <a:prstGeom prst="rect">
            <a:avLst/>
          </a:prstGeom>
          <a:noFill/>
          <a:ln/>
        </p:spPr>
        <p:txBody>
          <a:bodyPr wrap="square" lIns="0" tIns="0" rIns="0" bIns="0" rtlCol="0" anchor="ctr"/>
          <a:lstStyle/>
          <a:p>
            <a:pPr marL="0" indent="0">
              <a:buNone/>
            </a:pPr>
            <a:r>
              <a:rPr lang="en-US" sz="1150" b="1" dirty="0">
                <a:solidFill>
                  <a:srgbClr val="E8EAF0"/>
                </a:solidFill>
                <a:latin typeface="Courier New" pitchFamily="34" charset="0"/>
                <a:ea typeface="Courier New" pitchFamily="34" charset="-122"/>
                <a:cs typeface="Courier New" pitchFamily="34" charset="-120"/>
              </a:rPr>
              <a:t>GET /unmasked-demo</a:t>
            </a:r>
            <a:endParaRPr lang="en-US" sz="1150" dirty="0"/>
          </a:p>
        </p:txBody>
      </p:sp>
      <p:sp>
        <p:nvSpPr>
          <p:cNvPr id="13" name="Text 11"/>
          <p:cNvSpPr/>
          <p:nvPr/>
        </p:nvSpPr>
        <p:spPr>
          <a:xfrm>
            <a:off x="1325880" y="2898648"/>
            <a:ext cx="5852160" cy="274320"/>
          </a:xfrm>
          <a:prstGeom prst="rect">
            <a:avLst/>
          </a:prstGeom>
          <a:noFill/>
          <a:ln/>
        </p:spPr>
        <p:txBody>
          <a:bodyPr wrap="square" lIns="0" tIns="0" rIns="0" bIns="0" rtlCol="0" anchor="ctr"/>
          <a:lstStyle/>
          <a:p>
            <a:pPr marL="0" indent="0">
              <a:buNone/>
            </a:pPr>
            <a:r>
              <a:rPr lang="en-US" sz="1150" dirty="0">
                <a:solidFill>
                  <a:srgbClr val="8B93A7"/>
                </a:solidFill>
                <a:latin typeface="Calibri" pitchFamily="34" charset="0"/>
                <a:ea typeface="Calibri" pitchFamily="34" charset="-122"/>
                <a:cs typeface="Calibri" pitchFamily="34" charset="-120"/>
              </a:rPr>
              <a:t>The same record before masking, side by side.</a:t>
            </a:r>
            <a:endParaRPr lang="en-US" sz="1150" dirty="0"/>
          </a:p>
        </p:txBody>
      </p:sp>
      <p:sp>
        <p:nvSpPr>
          <p:cNvPr id="14" name="Shape 12"/>
          <p:cNvSpPr/>
          <p:nvPr/>
        </p:nvSpPr>
        <p:spPr>
          <a:xfrm>
            <a:off x="640080" y="3374136"/>
            <a:ext cx="6766560" cy="731520"/>
          </a:xfrm>
          <a:prstGeom prst="roundRect">
            <a:avLst>
              <a:gd name="adj" fmla="val 10000"/>
            </a:avLst>
          </a:prstGeom>
          <a:solidFill>
            <a:srgbClr val="1A1E28"/>
          </a:solidFill>
          <a:ln w="12700">
            <a:solidFill>
              <a:srgbClr val="2B3140"/>
            </a:solidFill>
            <a:prstDash val="solid"/>
          </a:ln>
        </p:spPr>
        <p:txBody>
          <a:bodyPr/>
          <a:lstStyle/>
          <a:p>
            <a:endParaRPr lang="en-SG"/>
          </a:p>
        </p:txBody>
      </p:sp>
      <p:sp>
        <p:nvSpPr>
          <p:cNvPr id="15" name="Shape 13"/>
          <p:cNvSpPr/>
          <p:nvPr/>
        </p:nvSpPr>
        <p:spPr>
          <a:xfrm>
            <a:off x="868680" y="3575304"/>
            <a:ext cx="310896" cy="310896"/>
          </a:xfrm>
          <a:prstGeom prst="ellipse">
            <a:avLst/>
          </a:prstGeom>
          <a:solidFill>
            <a:srgbClr val="FBBF24"/>
          </a:solidFill>
          <a:ln w="12700">
            <a:solidFill>
              <a:srgbClr val="FBBF24"/>
            </a:solidFill>
            <a:prstDash val="solid"/>
          </a:ln>
        </p:spPr>
        <p:txBody>
          <a:bodyPr/>
          <a:lstStyle/>
          <a:p>
            <a:endParaRPr lang="en-SG"/>
          </a:p>
        </p:txBody>
      </p:sp>
      <p:sp>
        <p:nvSpPr>
          <p:cNvPr id="16" name="Text 14"/>
          <p:cNvSpPr/>
          <p:nvPr/>
        </p:nvSpPr>
        <p:spPr>
          <a:xfrm>
            <a:off x="868680" y="3593592"/>
            <a:ext cx="310896" cy="274320"/>
          </a:xfrm>
          <a:prstGeom prst="rect">
            <a:avLst/>
          </a:prstGeom>
          <a:noFill/>
          <a:ln/>
        </p:spPr>
        <p:txBody>
          <a:bodyPr wrap="square" lIns="0" tIns="0" rIns="0" bIns="0" rtlCol="0" anchor="ctr"/>
          <a:lstStyle/>
          <a:p>
            <a:pPr marL="0" indent="0" algn="ctr">
              <a:buNone/>
            </a:pPr>
            <a:r>
              <a:rPr lang="en-US" sz="1300" b="1" dirty="0">
                <a:solidFill>
                  <a:srgbClr val="0F1117"/>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325880" y="3474720"/>
            <a:ext cx="2286000" cy="274320"/>
          </a:xfrm>
          <a:prstGeom prst="rect">
            <a:avLst/>
          </a:prstGeom>
          <a:noFill/>
          <a:ln/>
        </p:spPr>
        <p:txBody>
          <a:bodyPr wrap="square" lIns="0" tIns="0" rIns="0" bIns="0" rtlCol="0" anchor="ctr"/>
          <a:lstStyle/>
          <a:p>
            <a:pPr marL="0" indent="0">
              <a:buNone/>
            </a:pPr>
            <a:r>
              <a:rPr lang="en-US" sz="1150" b="1" dirty="0">
                <a:solidFill>
                  <a:srgbClr val="E8EAF0"/>
                </a:solidFill>
                <a:latin typeface="Courier New" pitchFamily="34" charset="0"/>
                <a:ea typeface="Courier New" pitchFamily="34" charset="-122"/>
                <a:cs typeface="Courier New" pitchFamily="34" charset="-120"/>
              </a:rPr>
              <a:t>GET /me as officer</a:t>
            </a:r>
            <a:endParaRPr lang="en-US" sz="1150" dirty="0"/>
          </a:p>
        </p:txBody>
      </p:sp>
      <p:sp>
        <p:nvSpPr>
          <p:cNvPr id="18" name="Text 16"/>
          <p:cNvSpPr/>
          <p:nvPr/>
        </p:nvSpPr>
        <p:spPr>
          <a:xfrm>
            <a:off x="1325880" y="3739896"/>
            <a:ext cx="5852160" cy="274320"/>
          </a:xfrm>
          <a:prstGeom prst="rect">
            <a:avLst/>
          </a:prstGeom>
          <a:noFill/>
          <a:ln/>
        </p:spPr>
        <p:txBody>
          <a:bodyPr wrap="square" lIns="0" tIns="0" rIns="0" bIns="0" rtlCol="0" anchor="ctr"/>
          <a:lstStyle/>
          <a:p>
            <a:pPr marL="0" indent="0">
              <a:buNone/>
            </a:pPr>
            <a:r>
              <a:rPr lang="en-US" sz="1150" dirty="0">
                <a:solidFill>
                  <a:srgbClr val="8B93A7"/>
                </a:solidFill>
                <a:latin typeface="Calibri" pitchFamily="34" charset="0"/>
                <a:ea typeface="Calibri" pitchFamily="34" charset="-122"/>
                <a:cs typeface="Calibri" pitchFamily="34" charset="-120"/>
              </a:rPr>
              <a:t>Full values return, and the console prints UNMASKED PII ACCESS.</a:t>
            </a:r>
            <a:endParaRPr lang="en-US" sz="1150" dirty="0"/>
          </a:p>
        </p:txBody>
      </p:sp>
      <p:sp>
        <p:nvSpPr>
          <p:cNvPr id="19" name="Shape 17"/>
          <p:cNvSpPr/>
          <p:nvPr/>
        </p:nvSpPr>
        <p:spPr>
          <a:xfrm>
            <a:off x="640080" y="4215384"/>
            <a:ext cx="6766560" cy="731520"/>
          </a:xfrm>
          <a:prstGeom prst="roundRect">
            <a:avLst>
              <a:gd name="adj" fmla="val 10000"/>
            </a:avLst>
          </a:prstGeom>
          <a:solidFill>
            <a:srgbClr val="1A1E28"/>
          </a:solidFill>
          <a:ln w="12700">
            <a:solidFill>
              <a:srgbClr val="2B3140"/>
            </a:solidFill>
            <a:prstDash val="solid"/>
          </a:ln>
        </p:spPr>
        <p:txBody>
          <a:bodyPr/>
          <a:lstStyle/>
          <a:p>
            <a:endParaRPr lang="en-SG"/>
          </a:p>
        </p:txBody>
      </p:sp>
      <p:sp>
        <p:nvSpPr>
          <p:cNvPr id="20" name="Shape 18"/>
          <p:cNvSpPr/>
          <p:nvPr/>
        </p:nvSpPr>
        <p:spPr>
          <a:xfrm>
            <a:off x="868680" y="4416552"/>
            <a:ext cx="310896" cy="310896"/>
          </a:xfrm>
          <a:prstGeom prst="ellipse">
            <a:avLst/>
          </a:prstGeom>
          <a:solidFill>
            <a:srgbClr val="FF6B6B"/>
          </a:solidFill>
          <a:ln w="12700">
            <a:solidFill>
              <a:srgbClr val="FF6B6B"/>
            </a:solidFill>
            <a:prstDash val="solid"/>
          </a:ln>
        </p:spPr>
        <p:txBody>
          <a:bodyPr/>
          <a:lstStyle/>
          <a:p>
            <a:endParaRPr lang="en-SG"/>
          </a:p>
        </p:txBody>
      </p:sp>
      <p:sp>
        <p:nvSpPr>
          <p:cNvPr id="21" name="Text 19"/>
          <p:cNvSpPr/>
          <p:nvPr/>
        </p:nvSpPr>
        <p:spPr>
          <a:xfrm>
            <a:off x="868680" y="4434840"/>
            <a:ext cx="310896" cy="274320"/>
          </a:xfrm>
          <a:prstGeom prst="rect">
            <a:avLst/>
          </a:prstGeom>
          <a:noFill/>
          <a:ln/>
        </p:spPr>
        <p:txBody>
          <a:bodyPr wrap="square" lIns="0" tIns="0" rIns="0" bIns="0" rtlCol="0" anchor="ctr"/>
          <a:lstStyle/>
          <a:p>
            <a:pPr marL="0" indent="0" algn="ctr">
              <a:buNone/>
            </a:pPr>
            <a:r>
              <a:rPr lang="en-US" sz="1300" b="1" dirty="0">
                <a:solidFill>
                  <a:srgbClr val="0F1117"/>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325880" y="4315968"/>
            <a:ext cx="2286000" cy="274320"/>
          </a:xfrm>
          <a:prstGeom prst="rect">
            <a:avLst/>
          </a:prstGeom>
          <a:noFill/>
          <a:ln/>
        </p:spPr>
        <p:txBody>
          <a:bodyPr wrap="square" lIns="0" tIns="0" rIns="0" bIns="0" rtlCol="0" anchor="ctr"/>
          <a:lstStyle/>
          <a:p>
            <a:pPr marL="0" indent="0">
              <a:buNone/>
            </a:pPr>
            <a:r>
              <a:rPr lang="en-US" sz="1150" b="1" dirty="0">
                <a:solidFill>
                  <a:srgbClr val="E8EAF0"/>
                </a:solidFill>
                <a:latin typeface="Courier New" pitchFamily="34" charset="0"/>
                <a:ea typeface="Courier New" pitchFamily="34" charset="-122"/>
                <a:cs typeface="Courier New" pitchFamily="34" charset="-120"/>
              </a:rPr>
              <a:t>PUT masked NRIC back</a:t>
            </a:r>
            <a:endParaRPr lang="en-US" sz="1150" dirty="0"/>
          </a:p>
        </p:txBody>
      </p:sp>
      <p:sp>
        <p:nvSpPr>
          <p:cNvPr id="23" name="Text 21"/>
          <p:cNvSpPr/>
          <p:nvPr/>
        </p:nvSpPr>
        <p:spPr>
          <a:xfrm>
            <a:off x="1325880" y="4581144"/>
            <a:ext cx="5852160" cy="274320"/>
          </a:xfrm>
          <a:prstGeom prst="rect">
            <a:avLst/>
          </a:prstGeom>
          <a:noFill/>
          <a:ln/>
        </p:spPr>
        <p:txBody>
          <a:bodyPr wrap="square" lIns="0" tIns="0" rIns="0" bIns="0" rtlCol="0" anchor="ctr"/>
          <a:lstStyle/>
          <a:p>
            <a:pPr marL="0" indent="0">
              <a:buNone/>
            </a:pPr>
            <a:r>
              <a:rPr lang="en-US" sz="1150" dirty="0">
                <a:solidFill>
                  <a:srgbClr val="8B93A7"/>
                </a:solidFill>
                <a:latin typeface="Calibri" pitchFamily="34" charset="0"/>
                <a:ea typeface="Calibri" pitchFamily="34" charset="-122"/>
                <a:cs typeface="Calibri" pitchFamily="34" charset="-120"/>
              </a:rPr>
              <a:t>HTTP 400 from the write-path guard.</a:t>
            </a:r>
            <a:endParaRPr lang="en-US" sz="1150" dirty="0"/>
          </a:p>
        </p:txBody>
      </p:sp>
      <p:sp>
        <p:nvSpPr>
          <p:cNvPr id="24" name="Shape 22"/>
          <p:cNvSpPr/>
          <p:nvPr/>
        </p:nvSpPr>
        <p:spPr>
          <a:xfrm>
            <a:off x="640080" y="5056632"/>
            <a:ext cx="6766560" cy="731520"/>
          </a:xfrm>
          <a:prstGeom prst="roundRect">
            <a:avLst>
              <a:gd name="adj" fmla="val 10000"/>
            </a:avLst>
          </a:prstGeom>
          <a:solidFill>
            <a:srgbClr val="1A1E28"/>
          </a:solidFill>
          <a:ln w="12700">
            <a:solidFill>
              <a:srgbClr val="2B3140"/>
            </a:solidFill>
            <a:prstDash val="solid"/>
          </a:ln>
        </p:spPr>
        <p:txBody>
          <a:bodyPr/>
          <a:lstStyle/>
          <a:p>
            <a:endParaRPr lang="en-SG"/>
          </a:p>
        </p:txBody>
      </p:sp>
      <p:sp>
        <p:nvSpPr>
          <p:cNvPr id="25" name="Shape 23"/>
          <p:cNvSpPr/>
          <p:nvPr/>
        </p:nvSpPr>
        <p:spPr>
          <a:xfrm>
            <a:off x="868680" y="5257800"/>
            <a:ext cx="310896" cy="310896"/>
          </a:xfrm>
          <a:prstGeom prst="ellipse">
            <a:avLst/>
          </a:prstGeom>
          <a:solidFill>
            <a:srgbClr val="4ADE80"/>
          </a:solidFill>
          <a:ln w="12700">
            <a:solidFill>
              <a:srgbClr val="4ADE80"/>
            </a:solidFill>
            <a:prstDash val="solid"/>
          </a:ln>
        </p:spPr>
        <p:txBody>
          <a:bodyPr/>
          <a:lstStyle/>
          <a:p>
            <a:endParaRPr lang="en-SG"/>
          </a:p>
        </p:txBody>
      </p:sp>
      <p:sp>
        <p:nvSpPr>
          <p:cNvPr id="26" name="Text 24"/>
          <p:cNvSpPr/>
          <p:nvPr/>
        </p:nvSpPr>
        <p:spPr>
          <a:xfrm>
            <a:off x="868680" y="5276088"/>
            <a:ext cx="310896" cy="274320"/>
          </a:xfrm>
          <a:prstGeom prst="rect">
            <a:avLst/>
          </a:prstGeom>
          <a:noFill/>
          <a:ln/>
        </p:spPr>
        <p:txBody>
          <a:bodyPr wrap="square" lIns="0" tIns="0" rIns="0" bIns="0" rtlCol="0" anchor="ctr"/>
          <a:lstStyle/>
          <a:p>
            <a:pPr marL="0" indent="0" algn="ctr">
              <a:buNone/>
            </a:pPr>
            <a:r>
              <a:rPr lang="en-US" sz="1300" b="1" dirty="0">
                <a:solidFill>
                  <a:srgbClr val="0F1117"/>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325880" y="5157216"/>
            <a:ext cx="2286000" cy="274320"/>
          </a:xfrm>
          <a:prstGeom prst="rect">
            <a:avLst/>
          </a:prstGeom>
          <a:noFill/>
          <a:ln/>
        </p:spPr>
        <p:txBody>
          <a:bodyPr wrap="square" lIns="0" tIns="0" rIns="0" bIns="0" rtlCol="0" anchor="ctr"/>
          <a:lstStyle/>
          <a:p>
            <a:pPr marL="0" indent="0">
              <a:buNone/>
            </a:pPr>
            <a:r>
              <a:rPr lang="en-US" sz="1150" b="1" dirty="0">
                <a:solidFill>
                  <a:srgbClr val="E8EAF0"/>
                </a:solidFill>
                <a:latin typeface="Courier New" pitchFamily="34" charset="0"/>
                <a:ea typeface="Courier New" pitchFamily="34" charset="-122"/>
                <a:cs typeface="Courier New" pitchFamily="34" charset="-120"/>
              </a:rPr>
              <a:t>Download CSV export</a:t>
            </a:r>
            <a:endParaRPr lang="en-US" sz="1150" dirty="0"/>
          </a:p>
        </p:txBody>
      </p:sp>
      <p:sp>
        <p:nvSpPr>
          <p:cNvPr id="28" name="Text 26"/>
          <p:cNvSpPr/>
          <p:nvPr/>
        </p:nvSpPr>
        <p:spPr>
          <a:xfrm>
            <a:off x="1325880" y="5422392"/>
            <a:ext cx="5852160" cy="274320"/>
          </a:xfrm>
          <a:prstGeom prst="rect">
            <a:avLst/>
          </a:prstGeom>
          <a:noFill/>
          <a:ln/>
        </p:spPr>
        <p:txBody>
          <a:bodyPr wrap="square" lIns="0" tIns="0" rIns="0" bIns="0" rtlCol="0" anchor="ctr"/>
          <a:lstStyle/>
          <a:p>
            <a:pPr marL="0" indent="0">
              <a:buNone/>
            </a:pPr>
            <a:r>
              <a:rPr lang="en-US" sz="1150" dirty="0">
                <a:solidFill>
                  <a:srgbClr val="8B93A7"/>
                </a:solidFill>
                <a:latin typeface="Calibri" pitchFamily="34" charset="0"/>
                <a:ea typeface="Calibri" pitchFamily="34" charset="-122"/>
                <a:cs typeface="Calibri" pitchFamily="34" charset="-120"/>
              </a:rPr>
              <a:t>Masked too — that path calls Mask.Apply directly.</a:t>
            </a:r>
            <a:endParaRPr lang="en-US" sz="1150" dirty="0"/>
          </a:p>
        </p:txBody>
      </p:sp>
      <p:sp>
        <p:nvSpPr>
          <p:cNvPr id="29" name="Shape 27"/>
          <p:cNvSpPr/>
          <p:nvPr/>
        </p:nvSpPr>
        <p:spPr>
          <a:xfrm>
            <a:off x="7772400" y="1645920"/>
            <a:ext cx="3776472" cy="4023360"/>
          </a:xfrm>
          <a:prstGeom prst="roundRect">
            <a:avLst>
              <a:gd name="adj" fmla="val 1937"/>
            </a:avLst>
          </a:prstGeom>
          <a:solidFill>
            <a:srgbClr val="1A1E28"/>
          </a:solidFill>
          <a:ln w="12700">
            <a:solidFill>
              <a:srgbClr val="2B3140"/>
            </a:solidFill>
            <a:prstDash val="solid"/>
          </a:ln>
        </p:spPr>
        <p:txBody>
          <a:bodyPr/>
          <a:lstStyle/>
          <a:p>
            <a:endParaRPr lang="en-SG"/>
          </a:p>
        </p:txBody>
      </p:sp>
      <p:sp>
        <p:nvSpPr>
          <p:cNvPr id="30" name="Text 28"/>
          <p:cNvSpPr/>
          <p:nvPr/>
        </p:nvSpPr>
        <p:spPr>
          <a:xfrm>
            <a:off x="8046720" y="1874520"/>
            <a:ext cx="3200400" cy="310896"/>
          </a:xfrm>
          <a:prstGeom prst="rect">
            <a:avLst/>
          </a:prstGeom>
          <a:noFill/>
          <a:ln/>
        </p:spPr>
        <p:txBody>
          <a:bodyPr wrap="square" lIns="0" tIns="0" rIns="0" bIns="0" rtlCol="0" anchor="ctr"/>
          <a:lstStyle/>
          <a:p>
            <a:pPr marL="0" indent="0">
              <a:buNone/>
            </a:pPr>
            <a:r>
              <a:rPr lang="en-US" sz="1600" b="1" dirty="0">
                <a:solidFill>
                  <a:srgbClr val="E8EAF0"/>
                </a:solidFill>
                <a:latin typeface="Calibri" pitchFamily="34" charset="0"/>
                <a:ea typeface="Calibri" pitchFamily="34" charset="-122"/>
                <a:cs typeface="Calibri" pitchFamily="34" charset="-120"/>
              </a:rPr>
              <a:t>Verification</a:t>
            </a:r>
            <a:endParaRPr lang="en-US" sz="1600" dirty="0"/>
          </a:p>
        </p:txBody>
      </p:sp>
      <p:sp>
        <p:nvSpPr>
          <p:cNvPr id="31" name="Text 29"/>
          <p:cNvSpPr/>
          <p:nvPr/>
        </p:nvSpPr>
        <p:spPr>
          <a:xfrm>
            <a:off x="8046720" y="2240280"/>
            <a:ext cx="3246120" cy="640080"/>
          </a:xfrm>
          <a:prstGeom prst="rect">
            <a:avLst/>
          </a:prstGeom>
          <a:noFill/>
          <a:ln/>
        </p:spPr>
        <p:txBody>
          <a:bodyPr wrap="square" lIns="0" tIns="0" rIns="0" bIns="0" rtlCol="0" anchor="ctr"/>
          <a:lstStyle/>
          <a:p>
            <a:pPr marL="0" indent="0">
              <a:lnSpc>
                <a:spcPts val="1700"/>
              </a:lnSpc>
              <a:buNone/>
            </a:pPr>
            <a:r>
              <a:rPr lang="en-US" sz="1200" dirty="0">
                <a:solidFill>
                  <a:srgbClr val="8B93A7"/>
                </a:solidFill>
                <a:latin typeface="Calibri" pitchFamily="34" charset="0"/>
                <a:ea typeface="Calibri" pitchFamily="34" charset="-122"/>
                <a:cs typeface="Calibri" pitchFamily="34" charset="-120"/>
              </a:rPr>
              <a:t>Right-click the Network panel, Copy all as HAR, then grep:</a:t>
            </a:r>
            <a:endParaRPr lang="en-US" sz="1200" dirty="0"/>
          </a:p>
        </p:txBody>
      </p:sp>
      <p:sp>
        <p:nvSpPr>
          <p:cNvPr id="32" name="Shape 30"/>
          <p:cNvSpPr/>
          <p:nvPr/>
        </p:nvSpPr>
        <p:spPr>
          <a:xfrm>
            <a:off x="8046720" y="2926080"/>
            <a:ext cx="3246120" cy="868680"/>
          </a:xfrm>
          <a:prstGeom prst="roundRect">
            <a:avLst>
              <a:gd name="adj" fmla="val 8421"/>
            </a:avLst>
          </a:prstGeom>
          <a:solidFill>
            <a:srgbClr val="090B10"/>
          </a:solidFill>
          <a:ln w="12700">
            <a:solidFill>
              <a:srgbClr val="2B3140"/>
            </a:solidFill>
            <a:prstDash val="solid"/>
          </a:ln>
        </p:spPr>
        <p:txBody>
          <a:bodyPr/>
          <a:lstStyle/>
          <a:p>
            <a:endParaRPr lang="en-SG"/>
          </a:p>
        </p:txBody>
      </p:sp>
      <p:sp>
        <p:nvSpPr>
          <p:cNvPr id="33" name="Text 31"/>
          <p:cNvSpPr/>
          <p:nvPr/>
        </p:nvSpPr>
        <p:spPr>
          <a:xfrm>
            <a:off x="8247888" y="3127248"/>
            <a:ext cx="2843784" cy="466344"/>
          </a:xfrm>
          <a:prstGeom prst="rect">
            <a:avLst/>
          </a:prstGeom>
          <a:noFill/>
          <a:ln/>
        </p:spPr>
        <p:txBody>
          <a:bodyPr wrap="square" lIns="0" tIns="0" rIns="0" bIns="0" rtlCol="0" anchor="t"/>
          <a:lstStyle/>
          <a:p>
            <a:pPr marL="0" indent="0">
              <a:lnSpc>
                <a:spcPts val="1500"/>
              </a:lnSpc>
              <a:buNone/>
            </a:pPr>
            <a:r>
              <a:rPr lang="en-US" sz="950" dirty="0">
                <a:solidFill>
                  <a:srgbClr val="4ADE80"/>
                </a:solidFill>
                <a:latin typeface="Courier New" pitchFamily="34" charset="0"/>
                <a:ea typeface="Courier New" pitchFamily="34" charset="-122"/>
                <a:cs typeface="Courier New" pitchFamily="34" charset="-120"/>
              </a:rPr>
              <a:t>grep -E \</a:t>
            </a:r>
            <a:endParaRPr lang="en-US" sz="950" dirty="0"/>
          </a:p>
          <a:p>
            <a:pPr marL="0" indent="0">
              <a:lnSpc>
                <a:spcPts val="1500"/>
              </a:lnSpc>
              <a:buNone/>
            </a:pPr>
            <a:r>
              <a:rPr lang="en-US" sz="950" dirty="0">
                <a:solidFill>
                  <a:srgbClr val="4ADE80"/>
                </a:solidFill>
                <a:latin typeface="Courier New" pitchFamily="34" charset="0"/>
                <a:ea typeface="Courier New" pitchFamily="34" charset="-122"/>
                <a:cs typeface="Courier New" pitchFamily="34" charset="-120"/>
              </a:rPr>
              <a:t>  "[STFG][0-9]{7}[A-Z]" \</a:t>
            </a:r>
            <a:endParaRPr lang="en-US" sz="950" dirty="0"/>
          </a:p>
          <a:p>
            <a:pPr marL="0" indent="0">
              <a:lnSpc>
                <a:spcPts val="1500"/>
              </a:lnSpc>
              <a:buNone/>
            </a:pPr>
            <a:r>
              <a:rPr lang="en-US" sz="950" dirty="0">
                <a:solidFill>
                  <a:srgbClr val="4ADE80"/>
                </a:solidFill>
                <a:latin typeface="Courier New" pitchFamily="34" charset="0"/>
                <a:ea typeface="Courier New" pitchFamily="34" charset="-122"/>
                <a:cs typeface="Courier New" pitchFamily="34" charset="-120"/>
              </a:rPr>
              <a:t>  session.har</a:t>
            </a:r>
            <a:endParaRPr lang="en-US" sz="950" dirty="0"/>
          </a:p>
        </p:txBody>
      </p:sp>
      <p:sp>
        <p:nvSpPr>
          <p:cNvPr id="34" name="Text 32"/>
          <p:cNvSpPr/>
          <p:nvPr/>
        </p:nvSpPr>
        <p:spPr>
          <a:xfrm>
            <a:off x="8046720" y="3977640"/>
            <a:ext cx="3246120" cy="1005840"/>
          </a:xfrm>
          <a:prstGeom prst="rect">
            <a:avLst/>
          </a:prstGeom>
          <a:noFill/>
          <a:ln/>
        </p:spPr>
        <p:txBody>
          <a:bodyPr wrap="square" lIns="0" tIns="0" rIns="0" bIns="0" rtlCol="0" anchor="t"/>
          <a:lstStyle/>
          <a:p>
            <a:pPr marL="0" indent="0">
              <a:lnSpc>
                <a:spcPts val="1700"/>
              </a:lnSpc>
              <a:buNone/>
            </a:pPr>
            <a:r>
              <a:rPr lang="en-US" sz="1200" dirty="0">
                <a:solidFill>
                  <a:srgbClr val="8B93A7"/>
                </a:solidFill>
                <a:latin typeface="Calibri" pitchFamily="34" charset="0"/>
                <a:ea typeface="Calibri" pitchFamily="34" charset="-122"/>
                <a:cs typeface="Calibri" pitchFamily="34" charset="-120"/>
              </a:rPr>
              <a:t>Zero hits outside the demo endpoint means Phase 1 is clean. Run the same grep against the log sink.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411480"/>
            <a:ext cx="10908792" cy="54864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What this does and does not buy us</a:t>
            </a:r>
            <a:endParaRPr lang="en-US" sz="3400" dirty="0"/>
          </a:p>
        </p:txBody>
      </p:sp>
      <p:sp>
        <p:nvSpPr>
          <p:cNvPr id="3" name="Text 1"/>
          <p:cNvSpPr/>
          <p:nvPr/>
        </p:nvSpPr>
        <p:spPr>
          <a:xfrm>
            <a:off x="640080" y="987552"/>
            <a:ext cx="10908792" cy="329184"/>
          </a:xfrm>
          <a:prstGeom prst="rect">
            <a:avLst/>
          </a:prstGeom>
          <a:noFill/>
          <a:ln/>
        </p:spPr>
        <p:txBody>
          <a:bodyPr wrap="square" lIns="0" tIns="0" rIns="0" bIns="0" rtlCol="0" anchor="ctr"/>
          <a:lstStyle/>
          <a:p>
            <a:pPr marL="0" indent="0">
              <a:buNone/>
            </a:pPr>
            <a:r>
              <a:rPr lang="en-US" sz="1500" dirty="0">
                <a:solidFill>
                  <a:srgbClr val="8B93A7"/>
                </a:solidFill>
                <a:latin typeface="Calibri" pitchFamily="34" charset="0"/>
                <a:ea typeface="Calibri" pitchFamily="34" charset="-122"/>
                <a:cs typeface="Calibri" pitchFamily="34" charset="-120"/>
              </a:rPr>
              <a:t>So nobody oversells it in a design review</a:t>
            </a:r>
            <a:endParaRPr lang="en-US" sz="1500" dirty="0"/>
          </a:p>
        </p:txBody>
      </p:sp>
      <p:sp>
        <p:nvSpPr>
          <p:cNvPr id="4" name="Shape 2"/>
          <p:cNvSpPr/>
          <p:nvPr/>
        </p:nvSpPr>
        <p:spPr>
          <a:xfrm>
            <a:off x="640080" y="1691640"/>
            <a:ext cx="5349240" cy="3246120"/>
          </a:xfrm>
          <a:prstGeom prst="roundRect">
            <a:avLst>
              <a:gd name="adj" fmla="val 2254"/>
            </a:avLst>
          </a:prstGeom>
          <a:solidFill>
            <a:srgbClr val="1A1E28"/>
          </a:solidFill>
          <a:ln w="12700">
            <a:solidFill>
              <a:srgbClr val="2B3140"/>
            </a:solidFill>
            <a:prstDash val="solid"/>
          </a:ln>
        </p:spPr>
        <p:txBody>
          <a:bodyPr/>
          <a:lstStyle/>
          <a:p>
            <a:endParaRPr lang="en-SG"/>
          </a:p>
        </p:txBody>
      </p:sp>
      <p:sp>
        <p:nvSpPr>
          <p:cNvPr id="5" name="Text 3"/>
          <p:cNvSpPr/>
          <p:nvPr/>
        </p:nvSpPr>
        <p:spPr>
          <a:xfrm>
            <a:off x="960120" y="1920240"/>
            <a:ext cx="4709160" cy="329184"/>
          </a:xfrm>
          <a:prstGeom prst="rect">
            <a:avLst/>
          </a:prstGeom>
          <a:noFill/>
          <a:ln/>
        </p:spPr>
        <p:txBody>
          <a:bodyPr wrap="square" lIns="0" tIns="0" rIns="0" bIns="0" rtlCol="0" anchor="ctr"/>
          <a:lstStyle/>
          <a:p>
            <a:pPr marL="0" indent="0">
              <a:buNone/>
            </a:pPr>
            <a:r>
              <a:rPr lang="en-US" sz="1800" b="1" dirty="0">
                <a:solidFill>
                  <a:srgbClr val="4ADE80"/>
                </a:solidFill>
                <a:latin typeface="Calibri" pitchFamily="34" charset="0"/>
                <a:ea typeface="Calibri" pitchFamily="34" charset="-122"/>
                <a:cs typeface="Calibri" pitchFamily="34" charset="-120"/>
              </a:rPr>
              <a:t>Genuinely closed</a:t>
            </a:r>
            <a:endParaRPr lang="en-US" sz="1800" dirty="0"/>
          </a:p>
        </p:txBody>
      </p:sp>
      <p:sp>
        <p:nvSpPr>
          <p:cNvPr id="6" name="Text 4"/>
          <p:cNvSpPr/>
          <p:nvPr/>
        </p:nvSpPr>
        <p:spPr>
          <a:xfrm>
            <a:off x="960120" y="2377440"/>
            <a:ext cx="4709160" cy="2926080"/>
          </a:xfrm>
          <a:prstGeom prst="rect">
            <a:avLst/>
          </a:prstGeom>
          <a:noFill/>
          <a:ln/>
        </p:spPr>
        <p:txBody>
          <a:bodyPr wrap="square" lIns="0" tIns="0" rIns="0" bIns="0" rtlCol="0" anchor="t"/>
          <a:lstStyle/>
          <a:p>
            <a:pPr marL="342900" indent="-342900">
              <a:lnSpc>
                <a:spcPts val="1700"/>
              </a:lnSpc>
              <a:spcAft>
                <a:spcPts val="1000"/>
              </a:spcAft>
              <a:buSzPct val="100000"/>
              <a:buChar char="•"/>
            </a:pPr>
            <a:r>
              <a:rPr lang="en-US" sz="1250" dirty="0">
                <a:solidFill>
                  <a:srgbClr val="E8EAF0"/>
                </a:solidFill>
                <a:latin typeface="Calibri" pitchFamily="34" charset="0"/>
                <a:ea typeface="Calibri" pitchFamily="34" charset="-122"/>
                <a:cs typeface="Calibri" pitchFamily="34" charset="-120"/>
              </a:rPr>
              <a:t>Full NRIC, account number, DOB, email and mobile never reach the browser</a:t>
            </a:r>
            <a:endParaRPr lang="en-US" sz="1250" dirty="0"/>
          </a:p>
          <a:p>
            <a:pPr marL="342900" indent="-342900">
              <a:lnSpc>
                <a:spcPts val="1700"/>
              </a:lnSpc>
              <a:spcAft>
                <a:spcPts val="1000"/>
              </a:spcAft>
              <a:buSzPct val="100000"/>
              <a:buChar char="•"/>
            </a:pPr>
            <a:r>
              <a:rPr lang="en-US" sz="1250" dirty="0">
                <a:solidFill>
                  <a:srgbClr val="E8EAF0"/>
                </a:solidFill>
                <a:latin typeface="Calibri" pitchFamily="34" charset="0"/>
                <a:ea typeface="Calibri" pitchFamily="34" charset="-122"/>
                <a:cs typeface="Calibri" pitchFamily="34" charset="-120"/>
              </a:rPr>
              <a:t>Replaying a captured request returns redacted data</a:t>
            </a:r>
            <a:endParaRPr lang="en-US" sz="1250" dirty="0"/>
          </a:p>
          <a:p>
            <a:pPr marL="342900" indent="-342900">
              <a:lnSpc>
                <a:spcPts val="1700"/>
              </a:lnSpc>
              <a:spcAft>
                <a:spcPts val="1000"/>
              </a:spcAft>
              <a:buSzPct val="100000"/>
              <a:buChar char="•"/>
            </a:pPr>
            <a:r>
              <a:rPr lang="en-US" sz="1250" dirty="0">
                <a:solidFill>
                  <a:srgbClr val="E8EAF0"/>
                </a:solidFill>
                <a:latin typeface="Calibri" pitchFamily="34" charset="0"/>
                <a:ea typeface="Calibri" pitchFamily="34" charset="-122"/>
                <a:cs typeface="Calibri" pitchFamily="34" charset="-120"/>
              </a:rPr>
              <a:t>Backend topology invisible, and scanner wordlists get 404 on everything</a:t>
            </a:r>
            <a:endParaRPr lang="en-US" sz="1250" dirty="0"/>
          </a:p>
          <a:p>
            <a:pPr marL="342900" indent="-342900">
              <a:lnSpc>
                <a:spcPts val="1700"/>
              </a:lnSpc>
              <a:spcAft>
                <a:spcPts val="1000"/>
              </a:spcAft>
              <a:buSzPct val="100000"/>
              <a:buChar char="•"/>
            </a:pPr>
            <a:r>
              <a:rPr lang="en-US" sz="1250" dirty="0">
                <a:solidFill>
                  <a:srgbClr val="E8EAF0"/>
                </a:solidFill>
                <a:latin typeface="Calibri" pitchFamily="34" charset="0"/>
                <a:ea typeface="Calibri" pitchFamily="34" charset="-122"/>
                <a:cs typeface="Calibri" pitchFamily="34" charset="-120"/>
              </a:rPr>
              <a:t>PDPC-aligned: partial NRIC is the expected default for display</a:t>
            </a:r>
            <a:endParaRPr lang="en-US" sz="1250" dirty="0"/>
          </a:p>
          <a:p>
            <a:pPr marL="342900" indent="-342900">
              <a:lnSpc>
                <a:spcPts val="1700"/>
              </a:lnSpc>
              <a:spcAft>
                <a:spcPts val="1000"/>
              </a:spcAft>
              <a:buSzPct val="100000"/>
              <a:buChar char="•"/>
            </a:pPr>
            <a:r>
              <a:rPr lang="en-US" sz="1250" dirty="0">
                <a:solidFill>
                  <a:srgbClr val="E8EAF0"/>
                </a:solidFill>
                <a:latin typeface="Calibri" pitchFamily="34" charset="0"/>
                <a:ea typeface="Calibri" pitchFamily="34" charset="-122"/>
                <a:cs typeface="Calibri" pitchFamily="34" charset="-120"/>
              </a:rPr>
              <a:t>WAF, caching and APM all still work — payload stays readable JSON</a:t>
            </a:r>
            <a:endParaRPr lang="en-US" sz="1250" dirty="0"/>
          </a:p>
        </p:txBody>
      </p:sp>
      <p:sp>
        <p:nvSpPr>
          <p:cNvPr id="7" name="Shape 5"/>
          <p:cNvSpPr/>
          <p:nvPr/>
        </p:nvSpPr>
        <p:spPr>
          <a:xfrm>
            <a:off x="6245352" y="1691640"/>
            <a:ext cx="5349240" cy="3246120"/>
          </a:xfrm>
          <a:prstGeom prst="roundRect">
            <a:avLst>
              <a:gd name="adj" fmla="val 2254"/>
            </a:avLst>
          </a:prstGeom>
          <a:solidFill>
            <a:srgbClr val="1A1E28"/>
          </a:solidFill>
          <a:ln w="12700">
            <a:solidFill>
              <a:srgbClr val="2B3140"/>
            </a:solidFill>
            <a:prstDash val="solid"/>
          </a:ln>
        </p:spPr>
        <p:txBody>
          <a:bodyPr/>
          <a:lstStyle/>
          <a:p>
            <a:endParaRPr lang="en-SG"/>
          </a:p>
        </p:txBody>
      </p:sp>
      <p:sp>
        <p:nvSpPr>
          <p:cNvPr id="8" name="Text 6"/>
          <p:cNvSpPr/>
          <p:nvPr/>
        </p:nvSpPr>
        <p:spPr>
          <a:xfrm>
            <a:off x="6565392" y="1920240"/>
            <a:ext cx="4709160" cy="329184"/>
          </a:xfrm>
          <a:prstGeom prst="rect">
            <a:avLst/>
          </a:prstGeom>
          <a:noFill/>
          <a:ln/>
        </p:spPr>
        <p:txBody>
          <a:bodyPr wrap="square" lIns="0" tIns="0" rIns="0" bIns="0" rtlCol="0" anchor="ctr"/>
          <a:lstStyle/>
          <a:p>
            <a:pPr marL="0" indent="0">
              <a:buNone/>
            </a:pPr>
            <a:r>
              <a:rPr lang="en-US" sz="1800" b="1" dirty="0">
                <a:solidFill>
                  <a:srgbClr val="FBBF24"/>
                </a:solidFill>
                <a:latin typeface="Calibri" pitchFamily="34" charset="0"/>
                <a:ea typeface="Calibri" pitchFamily="34" charset="-122"/>
                <a:cs typeface="Calibri" pitchFamily="34" charset="-120"/>
              </a:rPr>
              <a:t>Still open</a:t>
            </a:r>
            <a:endParaRPr lang="en-US" sz="1800" dirty="0"/>
          </a:p>
        </p:txBody>
      </p:sp>
      <p:sp>
        <p:nvSpPr>
          <p:cNvPr id="9" name="Text 7"/>
          <p:cNvSpPr/>
          <p:nvPr/>
        </p:nvSpPr>
        <p:spPr>
          <a:xfrm>
            <a:off x="6565392" y="2377440"/>
            <a:ext cx="4709160" cy="2926080"/>
          </a:xfrm>
          <a:prstGeom prst="rect">
            <a:avLst/>
          </a:prstGeom>
          <a:noFill/>
          <a:ln/>
        </p:spPr>
        <p:txBody>
          <a:bodyPr wrap="square" lIns="0" tIns="0" rIns="0" bIns="0" rtlCol="0" anchor="t"/>
          <a:lstStyle/>
          <a:p>
            <a:pPr marL="342900" indent="-342900">
              <a:lnSpc>
                <a:spcPts val="1700"/>
              </a:lnSpc>
              <a:spcAft>
                <a:spcPts val="1000"/>
              </a:spcAft>
              <a:buSzPct val="100000"/>
              <a:buChar char="•"/>
            </a:pPr>
            <a:r>
              <a:rPr lang="en-US" sz="1250" dirty="0">
                <a:solidFill>
                  <a:srgbClr val="E8EAF0"/>
                </a:solidFill>
                <a:latin typeface="Calibri" pitchFamily="34" charset="0"/>
                <a:ea typeface="Calibri" pitchFamily="34" charset="-122"/>
                <a:cs typeface="Calibri" pitchFamily="34" charset="-120"/>
              </a:rPr>
              <a:t>Route IDs ship in the JS bundle — one Sources search reveals the whole map</a:t>
            </a:r>
            <a:endParaRPr lang="en-US" sz="1250" dirty="0"/>
          </a:p>
          <a:p>
            <a:pPr marL="342900" indent="-342900">
              <a:lnSpc>
                <a:spcPts val="1700"/>
              </a:lnSpc>
              <a:spcAft>
                <a:spcPts val="1000"/>
              </a:spcAft>
              <a:buSzPct val="100000"/>
              <a:buChar char="•"/>
            </a:pPr>
            <a:r>
              <a:rPr lang="en-US" sz="1250" dirty="0">
                <a:solidFill>
                  <a:srgbClr val="E8EAF0"/>
                </a:solidFill>
                <a:latin typeface="Calibri" pitchFamily="34" charset="0"/>
                <a:ea typeface="Calibri" pitchFamily="34" charset="-122"/>
                <a:cs typeface="Calibri" pitchFamily="34" charset="-120"/>
              </a:rPr>
              <a:t>The JWT is readable — it decodes to plaintext claims</a:t>
            </a:r>
            <a:endParaRPr lang="en-US" sz="1250" dirty="0"/>
          </a:p>
          <a:p>
            <a:pPr marL="342900" indent="-342900">
              <a:lnSpc>
                <a:spcPts val="1700"/>
              </a:lnSpc>
              <a:spcAft>
                <a:spcPts val="1000"/>
              </a:spcAft>
              <a:buSzPct val="100000"/>
              <a:buChar char="•"/>
            </a:pPr>
            <a:r>
              <a:rPr lang="en-US" sz="1250" dirty="0">
                <a:solidFill>
                  <a:srgbClr val="E8EAF0"/>
                </a:solidFill>
                <a:latin typeface="Calibri" pitchFamily="34" charset="0"/>
                <a:ea typeface="Calibri" pitchFamily="34" charset="-122"/>
                <a:cs typeface="Calibri" pitchFamily="34" charset="-120"/>
              </a:rPr>
              <a:t>No request signing, so a captured call can still be replayed by a bot</a:t>
            </a:r>
            <a:endParaRPr lang="en-US" sz="1250" dirty="0"/>
          </a:p>
          <a:p>
            <a:pPr marL="342900" indent="-342900">
              <a:lnSpc>
                <a:spcPts val="1700"/>
              </a:lnSpc>
              <a:spcAft>
                <a:spcPts val="1000"/>
              </a:spcAft>
              <a:buSzPct val="100000"/>
              <a:buChar char="•"/>
            </a:pPr>
            <a:r>
              <a:rPr lang="en-US" sz="1250" dirty="0">
                <a:solidFill>
                  <a:srgbClr val="E8EAF0"/>
                </a:solidFill>
                <a:latin typeface="Calibri" pitchFamily="34" charset="0"/>
                <a:ea typeface="Calibri" pitchFamily="34" charset="-122"/>
                <a:cs typeface="Calibri" pitchFamily="34" charset="-120"/>
              </a:rPr>
              <a:t>Nothing here substitutes for server-side authorization per resource</a:t>
            </a:r>
            <a:endParaRPr lang="en-US" sz="1250" dirty="0"/>
          </a:p>
          <a:p>
            <a:pPr marL="342900" indent="-342900">
              <a:lnSpc>
                <a:spcPts val="1700"/>
              </a:lnSpc>
              <a:spcAft>
                <a:spcPts val="1000"/>
              </a:spcAft>
              <a:buSzPct val="100000"/>
              <a:buChar char="•"/>
            </a:pPr>
            <a:r>
              <a:rPr lang="en-US" sz="1250" dirty="0">
                <a:solidFill>
                  <a:srgbClr val="E8EAF0"/>
                </a:solidFill>
                <a:latin typeface="Calibri" pitchFamily="34" charset="0"/>
                <a:ea typeface="Calibri" pitchFamily="34" charset="-122"/>
                <a:cs typeface="Calibri" pitchFamily="34" charset="-120"/>
              </a:rPr>
              <a:t>In-memory store, no auth, no tests — the demo is not the implementation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117"/>
        </a:solidFill>
        <a:effectLst/>
      </p:bgPr>
    </p:bg>
    <p:spTree>
      <p:nvGrpSpPr>
        <p:cNvPr id="1" name=""/>
        <p:cNvGrpSpPr/>
        <p:nvPr/>
      </p:nvGrpSpPr>
      <p:grpSpPr>
        <a:xfrm>
          <a:off x="0" y="0"/>
          <a:ext cx="0" cy="0"/>
          <a:chOff x="0" y="0"/>
          <a:chExt cx="0" cy="0"/>
        </a:xfrm>
      </p:grpSpPr>
      <p:sp>
        <p:nvSpPr>
          <p:cNvPr id="2" name="Text 0"/>
          <p:cNvSpPr/>
          <p:nvPr/>
        </p:nvSpPr>
        <p:spPr>
          <a:xfrm>
            <a:off x="640080" y="411480"/>
            <a:ext cx="10908792" cy="54864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Next</a:t>
            </a:r>
            <a:endParaRPr lang="en-US" sz="3400" dirty="0"/>
          </a:p>
        </p:txBody>
      </p:sp>
      <p:sp>
        <p:nvSpPr>
          <p:cNvPr id="3" name="Text 1"/>
          <p:cNvSpPr/>
          <p:nvPr/>
        </p:nvSpPr>
        <p:spPr>
          <a:xfrm>
            <a:off x="640080" y="987552"/>
            <a:ext cx="10908792" cy="329184"/>
          </a:xfrm>
          <a:prstGeom prst="rect">
            <a:avLst/>
          </a:prstGeom>
          <a:noFill/>
          <a:ln/>
        </p:spPr>
        <p:txBody>
          <a:bodyPr wrap="square" lIns="0" tIns="0" rIns="0" bIns="0" rtlCol="0" anchor="ctr"/>
          <a:lstStyle/>
          <a:p>
            <a:pPr marL="0" indent="0">
              <a:buNone/>
            </a:pPr>
            <a:r>
              <a:rPr lang="en-US" sz="1500" dirty="0">
                <a:solidFill>
                  <a:srgbClr val="8B93A7"/>
                </a:solidFill>
                <a:latin typeface="Calibri" pitchFamily="34" charset="0"/>
                <a:ea typeface="Calibri" pitchFamily="34" charset="-122"/>
                <a:cs typeface="Calibri" pitchFamily="34" charset="-120"/>
              </a:rPr>
              <a:t>In priority order</a:t>
            </a:r>
            <a:endParaRPr lang="en-US" sz="1500" dirty="0"/>
          </a:p>
        </p:txBody>
      </p:sp>
      <p:sp>
        <p:nvSpPr>
          <p:cNvPr id="4" name="Shape 2"/>
          <p:cNvSpPr/>
          <p:nvPr/>
        </p:nvSpPr>
        <p:spPr>
          <a:xfrm>
            <a:off x="640080" y="1673352"/>
            <a:ext cx="310896" cy="310896"/>
          </a:xfrm>
          <a:prstGeom prst="ellipse">
            <a:avLst/>
          </a:prstGeom>
          <a:solidFill>
            <a:srgbClr val="4ADE80"/>
          </a:solidFill>
          <a:ln w="12700">
            <a:solidFill>
              <a:srgbClr val="4ADE80"/>
            </a:solidFill>
            <a:prstDash val="solid"/>
          </a:ln>
        </p:spPr>
        <p:txBody>
          <a:bodyPr/>
          <a:lstStyle/>
          <a:p>
            <a:endParaRPr lang="en-SG"/>
          </a:p>
        </p:txBody>
      </p:sp>
      <p:sp>
        <p:nvSpPr>
          <p:cNvPr id="5" name="Text 3"/>
          <p:cNvSpPr/>
          <p:nvPr/>
        </p:nvSpPr>
        <p:spPr>
          <a:xfrm>
            <a:off x="640080" y="1691640"/>
            <a:ext cx="310896" cy="274320"/>
          </a:xfrm>
          <a:prstGeom prst="rect">
            <a:avLst/>
          </a:prstGeom>
          <a:noFill/>
          <a:ln/>
        </p:spPr>
        <p:txBody>
          <a:bodyPr wrap="square" lIns="0" tIns="0" rIns="0" bIns="0" rtlCol="0" anchor="ctr"/>
          <a:lstStyle/>
          <a:p>
            <a:pPr marL="0" indent="0" algn="ctr">
              <a:buNone/>
            </a:pPr>
            <a:r>
              <a:rPr lang="en-US" sz="1300" b="1" dirty="0">
                <a:solidFill>
                  <a:srgbClr val="0F1117"/>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600200"/>
            <a:ext cx="10332720" cy="292608"/>
          </a:xfrm>
          <a:prstGeom prst="rect">
            <a:avLst/>
          </a:prstGeom>
          <a:noFill/>
          <a:ln/>
        </p:spPr>
        <p:txBody>
          <a:bodyPr wrap="square" lIns="0" tIns="0" rIns="0" bIns="0" rtlCol="0" anchor="ctr"/>
          <a:lstStyle/>
          <a:p>
            <a:pPr marL="0" indent="0">
              <a:buNone/>
            </a:pPr>
            <a:r>
              <a:rPr lang="en-US" sz="1550" b="1" dirty="0">
                <a:solidFill>
                  <a:srgbClr val="E8EAF0"/>
                </a:solidFill>
                <a:latin typeface="Calibri" pitchFamily="34" charset="0"/>
                <a:ea typeface="Calibri" pitchFamily="34" charset="-122"/>
                <a:cs typeface="Calibri" pitchFamily="34" charset="-120"/>
              </a:rPr>
              <a:t>Ship Phase 1</a:t>
            </a:r>
            <a:endParaRPr lang="en-US" sz="1550" dirty="0"/>
          </a:p>
        </p:txBody>
      </p:sp>
      <p:sp>
        <p:nvSpPr>
          <p:cNvPr id="7" name="Text 5"/>
          <p:cNvSpPr/>
          <p:nvPr/>
        </p:nvSpPr>
        <p:spPr>
          <a:xfrm>
            <a:off x="1143000" y="1901952"/>
            <a:ext cx="10332720" cy="502920"/>
          </a:xfrm>
          <a:prstGeom prst="rect">
            <a:avLst/>
          </a:prstGeom>
          <a:noFill/>
          <a:ln/>
        </p:spPr>
        <p:txBody>
          <a:bodyPr wrap="square" lIns="0" tIns="0" rIns="0" bIns="0" rtlCol="0" anchor="t"/>
          <a:lstStyle/>
          <a:p>
            <a:pPr marL="0" indent="0">
              <a:lnSpc>
                <a:spcPts val="1600"/>
              </a:lnSpc>
              <a:buNone/>
            </a:pPr>
            <a:r>
              <a:rPr lang="en-US" sz="1200" dirty="0">
                <a:solidFill>
                  <a:srgbClr val="8B93A7"/>
                </a:solidFill>
                <a:latin typeface="Calibri" pitchFamily="34" charset="0"/>
                <a:ea typeface="Calibri" pitchFamily="34" charset="-122"/>
                <a:cs typeface="Calibri" pitchFamily="34" charset="-120"/>
              </a:rPr>
              <a:t>Attribute + modifier + write-path guard. Then run the HAR grep and the log-sink grep before calling it done.</a:t>
            </a:r>
            <a:endParaRPr lang="en-US" sz="1200" dirty="0"/>
          </a:p>
        </p:txBody>
      </p:sp>
      <p:sp>
        <p:nvSpPr>
          <p:cNvPr id="8" name="Shape 6"/>
          <p:cNvSpPr/>
          <p:nvPr/>
        </p:nvSpPr>
        <p:spPr>
          <a:xfrm>
            <a:off x="640080" y="2532888"/>
            <a:ext cx="310896" cy="310896"/>
          </a:xfrm>
          <a:prstGeom prst="ellipse">
            <a:avLst/>
          </a:prstGeom>
          <a:solidFill>
            <a:srgbClr val="4F8CFF"/>
          </a:solidFill>
          <a:ln w="12700">
            <a:solidFill>
              <a:srgbClr val="4F8CFF"/>
            </a:solidFill>
            <a:prstDash val="solid"/>
          </a:ln>
        </p:spPr>
        <p:txBody>
          <a:bodyPr/>
          <a:lstStyle/>
          <a:p>
            <a:endParaRPr lang="en-SG"/>
          </a:p>
        </p:txBody>
      </p:sp>
      <p:sp>
        <p:nvSpPr>
          <p:cNvPr id="9" name="Text 7"/>
          <p:cNvSpPr/>
          <p:nvPr/>
        </p:nvSpPr>
        <p:spPr>
          <a:xfrm>
            <a:off x="640080" y="2551176"/>
            <a:ext cx="310896" cy="274320"/>
          </a:xfrm>
          <a:prstGeom prst="rect">
            <a:avLst/>
          </a:prstGeom>
          <a:noFill/>
          <a:ln/>
        </p:spPr>
        <p:txBody>
          <a:bodyPr wrap="square" lIns="0" tIns="0" rIns="0" bIns="0" rtlCol="0" anchor="ctr"/>
          <a:lstStyle/>
          <a:p>
            <a:pPr marL="0" indent="0" algn="ctr">
              <a:buNone/>
            </a:pPr>
            <a:r>
              <a:rPr lang="en-US" sz="1300" b="1" dirty="0">
                <a:solidFill>
                  <a:srgbClr val="0F1117"/>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43000" y="2459736"/>
            <a:ext cx="10332720" cy="292608"/>
          </a:xfrm>
          <a:prstGeom prst="rect">
            <a:avLst/>
          </a:prstGeom>
          <a:noFill/>
          <a:ln/>
        </p:spPr>
        <p:txBody>
          <a:bodyPr wrap="square" lIns="0" tIns="0" rIns="0" bIns="0" rtlCol="0" anchor="ctr"/>
          <a:lstStyle/>
          <a:p>
            <a:pPr marL="0" indent="0">
              <a:buNone/>
            </a:pPr>
            <a:r>
              <a:rPr lang="en-US" sz="1550" b="1" dirty="0">
                <a:solidFill>
                  <a:srgbClr val="E8EAF0"/>
                </a:solidFill>
                <a:latin typeface="Calibri" pitchFamily="34" charset="0"/>
                <a:ea typeface="Calibri" pitchFamily="34" charset="-122"/>
                <a:cs typeface="Calibri" pitchFamily="34" charset="-120"/>
              </a:rPr>
              <a:t>Confirm the mask formats</a:t>
            </a:r>
            <a:endParaRPr lang="en-US" sz="1550" dirty="0"/>
          </a:p>
        </p:txBody>
      </p:sp>
      <p:sp>
        <p:nvSpPr>
          <p:cNvPr id="11" name="Text 9"/>
          <p:cNvSpPr/>
          <p:nvPr/>
        </p:nvSpPr>
        <p:spPr>
          <a:xfrm>
            <a:off x="1143000" y="2761488"/>
            <a:ext cx="10332720" cy="502920"/>
          </a:xfrm>
          <a:prstGeom prst="rect">
            <a:avLst/>
          </a:prstGeom>
          <a:noFill/>
          <a:ln/>
        </p:spPr>
        <p:txBody>
          <a:bodyPr wrap="square" lIns="0" tIns="0" rIns="0" bIns="0" rtlCol="0" anchor="t"/>
          <a:lstStyle/>
          <a:p>
            <a:pPr marL="0" indent="0">
              <a:lnSpc>
                <a:spcPts val="1600"/>
              </a:lnSpc>
              <a:buNone/>
            </a:pPr>
            <a:r>
              <a:rPr lang="en-US" sz="1200" dirty="0">
                <a:solidFill>
                  <a:srgbClr val="8B93A7"/>
                </a:solidFill>
                <a:latin typeface="Calibri" pitchFamily="34" charset="0"/>
                <a:ea typeface="Calibri" pitchFamily="34" charset="-122"/>
                <a:cs typeface="Calibri" pitchFamily="34" charset="-120"/>
              </a:rPr>
              <a:t>Check whether CPF already has a standard for partial NRIC display, and whether any role needs unmasked reads. Worth asking data governance rather than assuming.</a:t>
            </a:r>
            <a:endParaRPr lang="en-US" sz="1200" dirty="0"/>
          </a:p>
        </p:txBody>
      </p:sp>
      <p:sp>
        <p:nvSpPr>
          <p:cNvPr id="12" name="Shape 10"/>
          <p:cNvSpPr/>
          <p:nvPr/>
        </p:nvSpPr>
        <p:spPr>
          <a:xfrm>
            <a:off x="640080" y="3392424"/>
            <a:ext cx="310896" cy="310896"/>
          </a:xfrm>
          <a:prstGeom prst="ellipse">
            <a:avLst/>
          </a:prstGeom>
          <a:solidFill>
            <a:srgbClr val="4F8CFF"/>
          </a:solidFill>
          <a:ln w="12700">
            <a:solidFill>
              <a:srgbClr val="4F8CFF"/>
            </a:solidFill>
            <a:prstDash val="solid"/>
          </a:ln>
        </p:spPr>
        <p:txBody>
          <a:bodyPr/>
          <a:lstStyle/>
          <a:p>
            <a:endParaRPr lang="en-SG"/>
          </a:p>
        </p:txBody>
      </p:sp>
      <p:sp>
        <p:nvSpPr>
          <p:cNvPr id="13" name="Text 11"/>
          <p:cNvSpPr/>
          <p:nvPr/>
        </p:nvSpPr>
        <p:spPr>
          <a:xfrm>
            <a:off x="640080" y="3410712"/>
            <a:ext cx="310896" cy="274320"/>
          </a:xfrm>
          <a:prstGeom prst="rect">
            <a:avLst/>
          </a:prstGeom>
          <a:noFill/>
          <a:ln/>
        </p:spPr>
        <p:txBody>
          <a:bodyPr wrap="square" lIns="0" tIns="0" rIns="0" bIns="0" rtlCol="0" anchor="ctr"/>
          <a:lstStyle/>
          <a:p>
            <a:pPr marL="0" indent="0" algn="ctr">
              <a:buNone/>
            </a:pPr>
            <a:r>
              <a:rPr lang="en-US" sz="1300" b="1" dirty="0">
                <a:solidFill>
                  <a:srgbClr val="0F1117"/>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43000" y="3319272"/>
            <a:ext cx="10332720" cy="292608"/>
          </a:xfrm>
          <a:prstGeom prst="rect">
            <a:avLst/>
          </a:prstGeom>
          <a:noFill/>
          <a:ln/>
        </p:spPr>
        <p:txBody>
          <a:bodyPr wrap="square" lIns="0" tIns="0" rIns="0" bIns="0" rtlCol="0" anchor="ctr"/>
          <a:lstStyle/>
          <a:p>
            <a:pPr marL="0" indent="0">
              <a:buNone/>
            </a:pPr>
            <a:r>
              <a:rPr lang="en-US" sz="1550" b="1" dirty="0">
                <a:solidFill>
                  <a:srgbClr val="E8EAF0"/>
                </a:solidFill>
                <a:latin typeface="Calibri" pitchFamily="34" charset="0"/>
                <a:ea typeface="Calibri" pitchFamily="34" charset="-122"/>
                <a:cs typeface="Calibri" pitchFamily="34" charset="-120"/>
              </a:rPr>
              <a:t>Add the tests</a:t>
            </a:r>
            <a:endParaRPr lang="en-US" sz="1550" dirty="0"/>
          </a:p>
        </p:txBody>
      </p:sp>
      <p:sp>
        <p:nvSpPr>
          <p:cNvPr id="15" name="Text 13"/>
          <p:cNvSpPr/>
          <p:nvPr/>
        </p:nvSpPr>
        <p:spPr>
          <a:xfrm>
            <a:off x="1143000" y="3621024"/>
            <a:ext cx="10332720" cy="502920"/>
          </a:xfrm>
          <a:prstGeom prst="rect">
            <a:avLst/>
          </a:prstGeom>
          <a:noFill/>
          <a:ln/>
        </p:spPr>
        <p:txBody>
          <a:bodyPr wrap="square" lIns="0" tIns="0" rIns="0" bIns="0" rtlCol="0" anchor="t"/>
          <a:lstStyle/>
          <a:p>
            <a:pPr marL="0" indent="0">
              <a:lnSpc>
                <a:spcPts val="1600"/>
              </a:lnSpc>
              <a:buNone/>
            </a:pPr>
            <a:r>
              <a:rPr lang="en-US" sz="1200" dirty="0">
                <a:solidFill>
                  <a:srgbClr val="8B93A7"/>
                </a:solidFill>
                <a:latin typeface="Calibri" pitchFamily="34" charset="0"/>
                <a:ea typeface="Calibri" pitchFamily="34" charset="-122"/>
                <a:cs typeface="Calibri" pitchFamily="34" charset="-120"/>
              </a:rPr>
              <a:t>xUnit on Mask.Apply for boundary lengths, nulls and short values. Integration test asserting no unmasked pattern in any serialised response.</a:t>
            </a:r>
            <a:endParaRPr lang="en-US" sz="1200" dirty="0"/>
          </a:p>
        </p:txBody>
      </p:sp>
      <p:sp>
        <p:nvSpPr>
          <p:cNvPr id="16" name="Shape 14"/>
          <p:cNvSpPr/>
          <p:nvPr/>
        </p:nvSpPr>
        <p:spPr>
          <a:xfrm>
            <a:off x="640080" y="4251960"/>
            <a:ext cx="310896" cy="310896"/>
          </a:xfrm>
          <a:prstGeom prst="ellipse">
            <a:avLst/>
          </a:prstGeom>
          <a:solidFill>
            <a:srgbClr val="4F8CFF"/>
          </a:solidFill>
          <a:ln w="12700">
            <a:solidFill>
              <a:srgbClr val="4F8CFF"/>
            </a:solidFill>
            <a:prstDash val="solid"/>
          </a:ln>
        </p:spPr>
        <p:txBody>
          <a:bodyPr/>
          <a:lstStyle/>
          <a:p>
            <a:endParaRPr lang="en-SG"/>
          </a:p>
        </p:txBody>
      </p:sp>
      <p:sp>
        <p:nvSpPr>
          <p:cNvPr id="17" name="Text 15"/>
          <p:cNvSpPr/>
          <p:nvPr/>
        </p:nvSpPr>
        <p:spPr>
          <a:xfrm>
            <a:off x="640080" y="4270248"/>
            <a:ext cx="310896" cy="274320"/>
          </a:xfrm>
          <a:prstGeom prst="rect">
            <a:avLst/>
          </a:prstGeom>
          <a:noFill/>
          <a:ln/>
        </p:spPr>
        <p:txBody>
          <a:bodyPr wrap="square" lIns="0" tIns="0" rIns="0" bIns="0" rtlCol="0" anchor="ctr"/>
          <a:lstStyle/>
          <a:p>
            <a:pPr marL="0" indent="0" algn="ctr">
              <a:buNone/>
            </a:pPr>
            <a:r>
              <a:rPr lang="en-US" sz="1300" b="1" dirty="0">
                <a:solidFill>
                  <a:srgbClr val="0F1117"/>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143000" y="4178808"/>
            <a:ext cx="10332720" cy="292608"/>
          </a:xfrm>
          <a:prstGeom prst="rect">
            <a:avLst/>
          </a:prstGeom>
          <a:noFill/>
          <a:ln/>
        </p:spPr>
        <p:txBody>
          <a:bodyPr wrap="square" lIns="0" tIns="0" rIns="0" bIns="0" rtlCol="0" anchor="ctr"/>
          <a:lstStyle/>
          <a:p>
            <a:pPr marL="0" indent="0">
              <a:buNone/>
            </a:pPr>
            <a:r>
              <a:rPr lang="en-US" sz="1550" b="1" dirty="0">
                <a:solidFill>
                  <a:srgbClr val="E8EAF0"/>
                </a:solidFill>
                <a:latin typeface="Calibri" pitchFamily="34" charset="0"/>
                <a:ea typeface="Calibri" pitchFamily="34" charset="-122"/>
                <a:cs typeface="Calibri" pitchFamily="34" charset="-120"/>
              </a:rPr>
              <a:t>Map the routes at the gateway</a:t>
            </a:r>
            <a:endParaRPr lang="en-US" sz="1550" dirty="0"/>
          </a:p>
        </p:txBody>
      </p:sp>
      <p:sp>
        <p:nvSpPr>
          <p:cNvPr id="19" name="Text 17"/>
          <p:cNvSpPr/>
          <p:nvPr/>
        </p:nvSpPr>
        <p:spPr>
          <a:xfrm>
            <a:off x="1143000" y="4480560"/>
            <a:ext cx="10332720" cy="502920"/>
          </a:xfrm>
          <a:prstGeom prst="rect">
            <a:avLst/>
          </a:prstGeom>
          <a:noFill/>
          <a:ln/>
        </p:spPr>
        <p:txBody>
          <a:bodyPr wrap="square" lIns="0" tIns="0" rIns="0" bIns="0" rtlCol="0" anchor="t"/>
          <a:lstStyle/>
          <a:p>
            <a:pPr marL="0" indent="0">
              <a:lnSpc>
                <a:spcPts val="1600"/>
              </a:lnSpc>
              <a:buNone/>
            </a:pPr>
            <a:r>
              <a:rPr lang="en-US" sz="1200" dirty="0">
                <a:solidFill>
                  <a:srgbClr val="8B93A7"/>
                </a:solidFill>
                <a:latin typeface="Calibri" pitchFamily="34" charset="0"/>
                <a:ea typeface="Calibri" pitchFamily="34" charset="-122"/>
                <a:cs typeface="Calibri" pitchFamily="34" charset="-120"/>
              </a:rPr>
              <a:t>Config-only change. Block the internal paths at the same time, and log X-Op-Name so dashboards stay readable.</a:t>
            </a:r>
            <a:endParaRPr lang="en-US" sz="1200" dirty="0"/>
          </a:p>
        </p:txBody>
      </p:sp>
      <p:sp>
        <p:nvSpPr>
          <p:cNvPr id="20" name="Shape 18"/>
          <p:cNvSpPr/>
          <p:nvPr/>
        </p:nvSpPr>
        <p:spPr>
          <a:xfrm>
            <a:off x="640080" y="5111496"/>
            <a:ext cx="310896" cy="310896"/>
          </a:xfrm>
          <a:prstGeom prst="ellipse">
            <a:avLst/>
          </a:prstGeom>
          <a:solidFill>
            <a:srgbClr val="FBBF24"/>
          </a:solidFill>
          <a:ln w="12700">
            <a:solidFill>
              <a:srgbClr val="FBBF24"/>
            </a:solidFill>
            <a:prstDash val="solid"/>
          </a:ln>
        </p:spPr>
        <p:txBody>
          <a:bodyPr/>
          <a:lstStyle/>
          <a:p>
            <a:endParaRPr lang="en-SG"/>
          </a:p>
        </p:txBody>
      </p:sp>
      <p:sp>
        <p:nvSpPr>
          <p:cNvPr id="21" name="Text 19"/>
          <p:cNvSpPr/>
          <p:nvPr/>
        </p:nvSpPr>
        <p:spPr>
          <a:xfrm>
            <a:off x="640080" y="5129784"/>
            <a:ext cx="310896" cy="274320"/>
          </a:xfrm>
          <a:prstGeom prst="rect">
            <a:avLst/>
          </a:prstGeom>
          <a:noFill/>
          <a:ln/>
        </p:spPr>
        <p:txBody>
          <a:bodyPr wrap="square" lIns="0" tIns="0" rIns="0" bIns="0" rtlCol="0" anchor="ctr"/>
          <a:lstStyle/>
          <a:p>
            <a:pPr marL="0" indent="0" algn="ctr">
              <a:buNone/>
            </a:pPr>
            <a:r>
              <a:rPr lang="en-US" sz="1300" b="1" dirty="0">
                <a:solidFill>
                  <a:srgbClr val="0F1117"/>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143000" y="5038344"/>
            <a:ext cx="10332720" cy="292608"/>
          </a:xfrm>
          <a:prstGeom prst="rect">
            <a:avLst/>
          </a:prstGeom>
          <a:noFill/>
          <a:ln/>
        </p:spPr>
        <p:txBody>
          <a:bodyPr wrap="square" lIns="0" tIns="0" rIns="0" bIns="0" rtlCol="0" anchor="ctr"/>
          <a:lstStyle/>
          <a:p>
            <a:pPr marL="0" indent="0">
              <a:buNone/>
            </a:pPr>
            <a:r>
              <a:rPr lang="en-US" sz="1550" b="1" dirty="0">
                <a:solidFill>
                  <a:srgbClr val="E8EAF0"/>
                </a:solidFill>
                <a:latin typeface="Calibri" pitchFamily="34" charset="0"/>
                <a:ea typeface="Calibri" pitchFamily="34" charset="-122"/>
                <a:cs typeface="Calibri" pitchFamily="34" charset="-120"/>
              </a:rPr>
              <a:t>Decide on Phase 2</a:t>
            </a:r>
            <a:endParaRPr lang="en-US" sz="1550" dirty="0"/>
          </a:p>
        </p:txBody>
      </p:sp>
      <p:sp>
        <p:nvSpPr>
          <p:cNvPr id="23" name="Text 21"/>
          <p:cNvSpPr/>
          <p:nvPr/>
        </p:nvSpPr>
        <p:spPr>
          <a:xfrm>
            <a:off x="1143000" y="5340096"/>
            <a:ext cx="10332720" cy="502920"/>
          </a:xfrm>
          <a:prstGeom prst="rect">
            <a:avLst/>
          </a:prstGeom>
          <a:noFill/>
          <a:ln/>
        </p:spPr>
        <p:txBody>
          <a:bodyPr wrap="square" lIns="0" tIns="0" rIns="0" bIns="0" rtlCol="0" anchor="t"/>
          <a:lstStyle/>
          <a:p>
            <a:pPr marL="0" indent="0">
              <a:lnSpc>
                <a:spcPts val="1600"/>
              </a:lnSpc>
              <a:buNone/>
            </a:pPr>
            <a:r>
              <a:rPr lang="en-US" sz="1200" dirty="0">
                <a:solidFill>
                  <a:srgbClr val="8B93A7"/>
                </a:solidFill>
                <a:latin typeface="Calibri" pitchFamily="34" charset="0"/>
                <a:ea typeface="Calibri" pitchFamily="34" charset="-122"/>
                <a:cs typeface="Calibri" pitchFamily="34" charset="-120"/>
              </a:rPr>
              <a:t>Field-level encryption for values the browser genuinely needs in full, or that must stay opaque to an inspecting proxy. My read: two or three fields, not everything.</a:t>
            </a:r>
            <a:endParaRPr lang="en-US" sz="1200" dirty="0"/>
          </a:p>
        </p:txBody>
      </p:sp>
      <p:sp>
        <p:nvSpPr>
          <p:cNvPr id="24" name="Shape 22"/>
          <p:cNvSpPr/>
          <p:nvPr/>
        </p:nvSpPr>
        <p:spPr>
          <a:xfrm>
            <a:off x="640080" y="5943600"/>
            <a:ext cx="10908792" cy="640080"/>
          </a:xfrm>
          <a:prstGeom prst="roundRect">
            <a:avLst>
              <a:gd name="adj" fmla="val 11429"/>
            </a:avLst>
          </a:prstGeom>
          <a:solidFill>
            <a:srgbClr val="1A1E28"/>
          </a:solidFill>
          <a:ln w="12700">
            <a:solidFill>
              <a:srgbClr val="2B3140"/>
            </a:solidFill>
            <a:prstDash val="solid"/>
          </a:ln>
        </p:spPr>
        <p:txBody>
          <a:bodyPr/>
          <a:lstStyle/>
          <a:p>
            <a:endParaRPr lang="en-SG"/>
          </a:p>
        </p:txBody>
      </p:sp>
      <p:sp>
        <p:nvSpPr>
          <p:cNvPr id="25" name="Text 23"/>
          <p:cNvSpPr/>
          <p:nvPr/>
        </p:nvSpPr>
        <p:spPr>
          <a:xfrm>
            <a:off x="960120" y="6071616"/>
            <a:ext cx="10332720" cy="384048"/>
          </a:xfrm>
          <a:prstGeom prst="rect">
            <a:avLst/>
          </a:prstGeom>
          <a:noFill/>
          <a:ln/>
        </p:spPr>
        <p:txBody>
          <a:bodyPr wrap="square" lIns="0" tIns="0" rIns="0" bIns="0" rtlCol="0" anchor="ctr"/>
          <a:lstStyle/>
          <a:p>
            <a:pPr marL="0" indent="0">
              <a:buNone/>
            </a:pPr>
            <a:r>
              <a:rPr lang="en-US" sz="1350" b="1" dirty="0">
                <a:solidFill>
                  <a:srgbClr val="E8EAF0"/>
                </a:solidFill>
                <a:latin typeface="Calibri" pitchFamily="34" charset="0"/>
                <a:ea typeface="Calibri" pitchFamily="34" charset="-122"/>
                <a:cs typeface="Calibri" pitchFamily="34" charset="-120"/>
              </a:rPr>
              <a:t>Open question for the team:  </a:t>
            </a:r>
            <a:r>
              <a:rPr lang="en-US" sz="1350" dirty="0">
                <a:solidFill>
                  <a:srgbClr val="8B93A7"/>
                </a:solidFill>
                <a:latin typeface="Calibri" pitchFamily="34" charset="0"/>
                <a:ea typeface="Calibri" pitchFamily="34" charset="-122"/>
                <a:cs typeface="Calibri" pitchFamily="34" charset="-120"/>
              </a:rPr>
              <a:t>who owns the route-ID map, and what is our rotation policy when one leaks?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2404</Words>
  <Application>Microsoft Office PowerPoint</Application>
  <PresentationFormat>Widescreen</PresentationFormat>
  <Paragraphs>243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Field-Level Masking</dc:title>
  <dc:subject>PptxGenJS Presentation</dc:subject>
  <dc:creator>EdgeCodersHub</dc:creator>
  <cp:lastModifiedBy>Beko Ademi</cp:lastModifiedBy>
  <cp:revision>4</cp:revision>
  <dcterms:created xsi:type="dcterms:W3CDTF">2026-08-13T04:07:27Z</dcterms:created>
  <dcterms:modified xsi:type="dcterms:W3CDTF">2026-08-14T13:43:01Z</dcterms:modified>
</cp:coreProperties>
</file>